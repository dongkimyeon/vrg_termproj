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공개 사양 + 일부 모델 가정을 사용한 '실측 보정 전' 프로토타입. 실제 시설 계측값과는 연결하지 않았다.</a:t>
            </a:r>
          </a:p>
          <a:p>
            <a:r>
              <a:t>120 kW = GB200 NVL72 랙 1대 전부하 발열(약 117~119 kW), 전기난로 2 kW 기준 약 60대.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용어: CDU = 냉각수 분배·열교환 장치, CRAH = 실내 공기 냉각기(공조기), 스파인 = 랙들을 묶는 상위 네트워크 스위치.</a:t>
            </a:r>
          </a:p>
          <a:p>
            <a:r>
              <a:t>모든 모델이 하나의 시뮬레이션 시간(SimTime)을 공유한다.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 원문 수치:</a:t>
            </a:r>
          </a:p>
          <a:p>
            <a:r>
              <a:t>- 222종 = 무경고 213 + 경고 동반 9 (고유 검사 종류 기준). 전체 1회 실행 217 성공·5 실패 → 테스트 월드 구성 수정 후 5종 재통과.</a:t>
            </a:r>
          </a:p>
          <a:p>
            <a:r>
              <a:t>- 열수지 = |입력 − 출력 − 축적| ÷ (IT + CRAH 팬 입력에너지), 무차원. 최종 패키지 기본 30초, 33,210셀, 1,500스텝, h 0.25 m, dt 0.02 s. 기존 기준 10⁻⁹ 미만.</a:t>
            </a:r>
          </a:p>
          <a:p>
            <a:r>
              <a:t>- Win64 Development 패키징 성공, 배치·온도·저장 복원 확인. 시설 온도 정확도 지표는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1792946"/>
            <a:ext cx="2325547" cy="3008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9" b="1">
                <a:solidFill>
                  <a:srgbClr val="3FC1D9"/>
                </a:solidFill>
                <a:latin typeface="Noto Sans KR"/>
                <a:ea typeface="Noto Sans KR"/>
              </a:rPr>
              <a:t>중간발표</a:t>
            </a:r>
            <a:r>
              <a:rPr lang="en-US" sz="1579" b="1">
                <a:solidFill>
                  <a:srgbClr val="3FC1D9"/>
                </a:solidFill>
                <a:latin typeface="Segoe UI"/>
                <a:ea typeface="Segoe UI"/>
              </a:rPr>
              <a:t> ·</a:t>
            </a:r>
            <a:r>
              <a:rPr lang="en-US" sz="1579" b="1">
                <a:solidFill>
                  <a:srgbClr val="3FC1D9"/>
                </a:solidFill>
                <a:latin typeface="Noto Sans KR"/>
                <a:ea typeface="Noto Sans KR"/>
              </a:rPr>
              <a:t> 2026. 10. 07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8827" y="2231675"/>
            <a:ext cx="3385646" cy="7985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191" b="1">
                <a:solidFill>
                  <a:srgbClr val="EEF2F6"/>
                </a:solidFill>
                <a:latin typeface="Noto Sans KR"/>
                <a:ea typeface="Noto Sans KR"/>
              </a:rPr>
              <a:t>AI </a:t>
            </a:r>
            <a:r>
              <a:rPr lang="ko-KR" sz="4191" b="1">
                <a:solidFill>
                  <a:srgbClr val="EEF2F6"/>
                </a:solidFill>
                <a:latin typeface="Noto Sans KR"/>
                <a:ea typeface="Noto Sans KR"/>
              </a:rPr>
              <a:t>데이터센터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942" y="2847277"/>
            <a:ext cx="3867625" cy="770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냉각</a:t>
            </a:r>
            <a:r>
              <a:rPr lang="en-US" sz="4043" b="1" dirty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디지털</a:t>
            </a:r>
            <a:r>
              <a:rPr lang="en-US" sz="4043" b="1" dirty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트윈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57" y="3695023"/>
            <a:ext cx="3781445" cy="409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배치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열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유동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통합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58" y="4510272"/>
            <a:ext cx="773160" cy="2923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534" b="0" dirty="0">
                <a:solidFill>
                  <a:srgbClr val="A9B9CC"/>
                </a:solidFill>
                <a:latin typeface="Noto Sans KR"/>
                <a:ea typeface="Noto Sans KR"/>
              </a:rPr>
              <a:t>[</a:t>
            </a:r>
            <a:r>
              <a:rPr lang="ko-KR" altLang="en-US" sz="1534" dirty="0">
                <a:solidFill>
                  <a:srgbClr val="A9B9CC"/>
                </a:solidFill>
                <a:latin typeface="Noto Sans KR"/>
                <a:ea typeface="Noto Sans KR"/>
              </a:rPr>
              <a:t>가상현실게임</a:t>
            </a:r>
            <a:r>
              <a:rPr lang="en-US" altLang="ko-KR" sz="1534" dirty="0">
                <a:solidFill>
                  <a:srgbClr val="A9B9CC"/>
                </a:solidFill>
                <a:latin typeface="Noto Sans KR"/>
                <a:ea typeface="Noto Sans KR"/>
              </a:rPr>
              <a:t>(01)</a:t>
            </a:r>
            <a:r>
              <a:rPr lang="en-US" sz="1534" b="0" dirty="0">
                <a:solidFill>
                  <a:srgbClr val="A9B9CC"/>
                </a:solidFill>
                <a:latin typeface="Noto Sans KR"/>
                <a:ea typeface="Noto Sans KR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58" y="4816109"/>
            <a:ext cx="1624982" cy="2944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[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김동연</a:t>
            </a:r>
            <a:r>
              <a:rPr lang="en-US" altLang="ko-KR" sz="1545" b="0" dirty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김경준</a:t>
            </a:r>
            <a:r>
              <a:rPr lang="en-US" altLang="ko-KR" sz="1545" b="0" dirty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정진영</a:t>
            </a:r>
            <a:r>
              <a:rPr 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]</a:t>
            </a:r>
          </a:p>
        </p:txBody>
      </p:sp>
      <p:pic>
        <p:nvPicPr>
          <p:cNvPr id="13" name="조감 화면" descr="slide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1835150"/>
            <a:ext cx="5638800" cy="3187700"/>
          </a:xfrm>
          <a:prstGeom prst="roundRect">
            <a:avLst>
              <a:gd name="adj" fmla="val 2600"/>
            </a:avLst>
          </a:prstGeom>
        </p:spPr>
      </p:pic>
      <p:sp>
        <p:nvSpPr>
          <p:cNvPr id="14" name="조감 화면 캡션"/>
          <p:cNvSpPr txBox="1"/>
          <p:nvPr/>
        </p:nvSpPr>
        <p:spPr>
          <a:xfrm>
            <a:off x="5765800" y="5099050"/>
            <a:ext cx="563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lang="en-US" sz="1100" b="0">
                <a:solidFill>
                  <a:srgbClr val="A9B9CC"/>
                </a:solidFill>
                <a:latin typeface="Noto Sans KR"/>
                <a:ea typeface="Noto Sans KR"/>
              </a:rPr>
              <a:t>최신 빌드 화면 · GB200 NVL72 랙 32대 기본 구성 · 2026. 10. 10 촬영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406"/>
            <a:ext cx="1018523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왜</a:t>
            </a:r>
            <a:r>
              <a:rPr lang="en-US" sz="1450" b="1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0736" y="1143847"/>
            <a:ext cx="7144379" cy="5848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데이터센터</a:t>
            </a:r>
            <a:r>
              <a:rPr lang="en-US" sz="3070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냉각</a:t>
            </a:r>
            <a:r>
              <a:rPr lang="en-US" sz="3070" b="1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직접</a:t>
            </a:r>
            <a:r>
              <a:rPr lang="en-US" sz="3070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바꿔</a:t>
            </a:r>
            <a:r>
              <a:rPr lang="en-US" sz="3070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보며</a:t>
            </a:r>
            <a:r>
              <a:rPr lang="en-US" sz="3070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이해하기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006" y="1897906"/>
            <a:ext cx="7823734" cy="40219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AI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서버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랙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1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대는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전기난로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약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60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대만큼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(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약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120 kW)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의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열을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냅니다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831" y="2287064"/>
            <a:ext cx="10124936" cy="4040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이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열은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3FC1D9"/>
                </a:solidFill>
                <a:latin typeface="Noto Sans KR"/>
                <a:ea typeface="Noto Sans KR"/>
              </a:rPr>
              <a:t>물</a:t>
            </a:r>
            <a:r>
              <a:rPr lang="en-US" sz="2120" b="0">
                <a:solidFill>
                  <a:srgbClr val="3FC1D9"/>
                </a:solidFill>
                <a:latin typeface="Noto Sans KR"/>
                <a:ea typeface="Noto Sans KR"/>
              </a:rPr>
              <a:t>(</a:t>
            </a:r>
            <a:r>
              <a:rPr lang="ko-KR" sz="2120" b="0">
                <a:solidFill>
                  <a:srgbClr val="3FC1D9"/>
                </a:solidFill>
                <a:latin typeface="Noto Sans KR"/>
                <a:ea typeface="Noto Sans KR"/>
              </a:rPr>
              <a:t>냉각수</a:t>
            </a:r>
            <a:r>
              <a:rPr lang="en-US" sz="2120" b="0">
                <a:solidFill>
                  <a:srgbClr val="3FC1D9"/>
                </a:solidFill>
                <a:latin typeface="Noto Sans KR"/>
                <a:ea typeface="Noto Sans KR"/>
              </a:rPr>
              <a:t>)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과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6FA8FF"/>
                </a:solidFill>
                <a:latin typeface="Noto Sans KR"/>
                <a:ea typeface="Noto Sans KR"/>
              </a:rPr>
              <a:t>바람</a:t>
            </a:r>
            <a:r>
              <a:rPr lang="en-US" sz="2120" b="0">
                <a:solidFill>
                  <a:srgbClr val="6FA8FF"/>
                </a:solidFill>
                <a:latin typeface="Noto Sans KR"/>
                <a:ea typeface="Noto Sans KR"/>
              </a:rPr>
              <a:t>(</a:t>
            </a:r>
            <a:r>
              <a:rPr lang="ko-KR" sz="2120" b="0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  <a:r>
              <a:rPr lang="en-US" sz="2120" b="0">
                <a:solidFill>
                  <a:srgbClr val="6FA8FF"/>
                </a:solidFill>
                <a:latin typeface="Noto Sans KR"/>
                <a:ea typeface="Noto Sans KR"/>
              </a:rPr>
              <a:t>)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으로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빠지고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,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장비를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어떻게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놓느냐에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따라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달라집니다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953" y="3106418"/>
            <a:ext cx="286867" cy="2790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64" b="1">
                <a:solidFill>
                  <a:srgbClr val="3FC1D9"/>
                </a:solidFill>
                <a:latin typeface="Noto Sans KR"/>
                <a:ea typeface="Noto Sans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382" y="3420812"/>
            <a:ext cx="1188748" cy="40304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장비</a:t>
            </a:r>
            <a:r>
              <a:rPr lang="en-US" sz="2115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놓기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253" y="3104738"/>
            <a:ext cx="280782" cy="2718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27" b="1">
                <a:solidFill>
                  <a:srgbClr val="3FC1D9"/>
                </a:solidFill>
                <a:latin typeface="Noto Sans KR"/>
                <a:ea typeface="Noto Sans K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729" y="3420819"/>
            <a:ext cx="1450692" cy="40296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조건</a:t>
            </a:r>
            <a:r>
              <a:rPr lang="en-US" sz="2115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바꾸기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9553" y="3108392"/>
            <a:ext cx="275074" cy="2651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91" b="1">
                <a:solidFill>
                  <a:srgbClr val="3FC1D9"/>
                </a:solidFill>
                <a:latin typeface="Noto Sans KR"/>
                <a:ea typeface="Noto Sans K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3681" y="3422596"/>
            <a:ext cx="1185066" cy="40172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2108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0853" y="3107714"/>
            <a:ext cx="279127" cy="2698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16" b="1">
                <a:solidFill>
                  <a:srgbClr val="3FC1D9"/>
                </a:solidFill>
                <a:latin typeface="Noto Sans KR"/>
                <a:ea typeface="Noto Sans K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4028" y="3423622"/>
            <a:ext cx="1120506" cy="4017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비교하기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830" y="4311218"/>
            <a:ext cx="6185198" cy="4064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건물에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맞추기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전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단계의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학습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실험용</a:t>
            </a:r>
            <a:r>
              <a:rPr lang="en-US" sz="2133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353" y="4761150"/>
            <a:ext cx="6731408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공개된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장비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사양으로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계산합니다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데이터센터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측정값과는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아직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비교하지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않았습니다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140"/>
            <a:ext cx="1436948" cy="2794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한눈에</a:t>
            </a:r>
            <a:r>
              <a:rPr lang="en-US" sz="1466" b="1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보는</a:t>
            </a:r>
            <a:r>
              <a:rPr lang="en-US" sz="1466" b="1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513" y="1141335"/>
            <a:ext cx="7628449" cy="58575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서버의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열은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물과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두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길로</a:t>
            </a:r>
            <a:r>
              <a:rPr lang="en-US" sz="3074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빠져나갑니다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6652" y="2883490"/>
            <a:ext cx="1276618" cy="4063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32" b="1">
                <a:solidFill>
                  <a:srgbClr val="EEF2F6"/>
                </a:solidFill>
                <a:latin typeface="Noto Sans KR"/>
                <a:ea typeface="Noto Sans KR"/>
              </a:rPr>
              <a:t>AI </a:t>
            </a:r>
            <a:r>
              <a:rPr lang="ko-KR" sz="2132" b="1">
                <a:solidFill>
                  <a:srgbClr val="EEF2F6"/>
                </a:solidFill>
                <a:latin typeface="Noto Sans KR"/>
                <a:ea typeface="Noto Sans KR"/>
              </a:rPr>
              <a:t>서버</a:t>
            </a:r>
            <a:r>
              <a:rPr lang="en-US" sz="2132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32" b="1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2530" y="3331701"/>
            <a:ext cx="1278514" cy="2753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45" b="0">
                <a:solidFill>
                  <a:srgbClr val="E6D3C4"/>
                </a:solidFill>
                <a:latin typeface="Noto Sans KR"/>
                <a:ea typeface="Noto Sans KR"/>
              </a:rPr>
              <a:t>GB200 NVL72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7822" y="3664632"/>
            <a:ext cx="999644" cy="2585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1">
                <a:solidFill>
                  <a:srgbClr val="F2A65E"/>
                </a:solidFill>
                <a:latin typeface="Noto Sans KR"/>
                <a:ea typeface="Noto Sans KR"/>
              </a:rPr>
              <a:t>열을</a:t>
            </a:r>
            <a:r>
              <a:rPr lang="en-US" sz="1357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1357" b="1">
                <a:solidFill>
                  <a:srgbClr val="F2A65E"/>
                </a:solidFill>
                <a:latin typeface="Noto Sans KR"/>
                <a:ea typeface="Noto Sans KR"/>
              </a:rPr>
              <a:t>내는</a:t>
            </a:r>
            <a:r>
              <a:rPr lang="en-US" sz="1357" b="1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lang="ko-KR" sz="1357" b="1">
                <a:solidFill>
                  <a:srgbClr val="F2A65E"/>
                </a:solidFill>
                <a:latin typeface="Noto Sans KR"/>
                <a:ea typeface="Noto Sans KR"/>
              </a:rPr>
              <a:t>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6455" y="1959148"/>
            <a:ext cx="558127" cy="3315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740" b="1">
                <a:solidFill>
                  <a:srgbClr val="EEF2F6"/>
                </a:solidFill>
                <a:latin typeface="Noto Sans KR"/>
                <a:ea typeface="Noto Sans KR"/>
              </a:rPr>
              <a:t>CDU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839" y="2299974"/>
            <a:ext cx="1332078" cy="2579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뜨거운</a:t>
            </a:r>
            <a:r>
              <a:rPr lang="en-US" sz="1354" b="0">
                <a:solidFill>
                  <a:srgbClr val="BFE6EE"/>
                </a:solidFill>
                <a:latin typeface="Noto Sans KR"/>
                <a:ea typeface="Noto Sans KR"/>
              </a:rPr>
              <a:t> </a:t>
            </a:r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물을</a:t>
            </a:r>
            <a:r>
              <a:rPr lang="en-US" sz="1354" b="0">
                <a:solidFill>
                  <a:srgbClr val="BFE6EE"/>
                </a:solidFill>
                <a:latin typeface="Noto Sans KR"/>
                <a:ea typeface="Noto Sans KR"/>
              </a:rPr>
              <a:t> </a:t>
            </a:r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식힘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9239" y="1961290"/>
            <a:ext cx="1205038" cy="3309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7" b="1">
                <a:solidFill>
                  <a:srgbClr val="EEF2F6"/>
                </a:solidFill>
                <a:latin typeface="Noto Sans KR"/>
                <a:ea typeface="Noto Sans KR"/>
              </a:rPr>
              <a:t>건물</a:t>
            </a:r>
            <a:r>
              <a:rPr lang="en-US" sz="1737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1737" b="1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6746" y="2297350"/>
            <a:ext cx="1328367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BFE6EE"/>
                </a:solidFill>
                <a:latin typeface="Noto Sans KR"/>
                <a:ea typeface="Noto Sans KR"/>
              </a:rPr>
              <a:t>열을</a:t>
            </a:r>
            <a:r>
              <a:rPr lang="en-US" sz="1350" b="0">
                <a:solidFill>
                  <a:srgbClr val="BFE6EE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BFE6EE"/>
                </a:solidFill>
                <a:latin typeface="Noto Sans KR"/>
                <a:ea typeface="Noto Sans KR"/>
              </a:rPr>
              <a:t>건물</a:t>
            </a:r>
            <a:r>
              <a:rPr lang="en-US" sz="1350" b="0">
                <a:solidFill>
                  <a:srgbClr val="BFE6EE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BFE6EE"/>
                </a:solidFill>
                <a:latin typeface="Noto Sans KR"/>
                <a:ea typeface="Noto Sans KR"/>
              </a:rPr>
              <a:t>밖으로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5331" y="3103108"/>
            <a:ext cx="757627" cy="3292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8" b="1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1728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8" b="1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339" y="3439299"/>
            <a:ext cx="1272978" cy="2686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10" b="0">
                <a:solidFill>
                  <a:srgbClr val="C6DAF7"/>
                </a:solidFill>
                <a:latin typeface="Noto Sans KR"/>
                <a:ea typeface="Noto Sans KR"/>
              </a:rPr>
              <a:t>온도</a:t>
            </a:r>
            <a:r>
              <a:rPr lang="en-US" sz="1410" b="0">
                <a:solidFill>
                  <a:srgbClr val="C6DAF7"/>
                </a:solidFill>
                <a:latin typeface="Segoe UI"/>
                <a:ea typeface="Segoe UI"/>
              </a:rPr>
              <a:t>·</a:t>
            </a:r>
            <a:r>
              <a:rPr lang="ko-KR" sz="1410" b="0">
                <a:solidFill>
                  <a:srgbClr val="C6DAF7"/>
                </a:solidFill>
                <a:latin typeface="Noto Sans KR"/>
                <a:ea typeface="Noto Sans KR"/>
              </a:rPr>
              <a:t>바람</a:t>
            </a:r>
            <a:r>
              <a:rPr lang="en-US" sz="1410" b="0">
                <a:solidFill>
                  <a:srgbClr val="C6DAF7"/>
                </a:solidFill>
                <a:latin typeface="Noto Sans KR"/>
                <a:ea typeface="Noto Sans KR"/>
              </a:rPr>
              <a:t> </a:t>
            </a:r>
            <a:r>
              <a:rPr lang="ko-KR" sz="1410" b="0">
                <a:solidFill>
                  <a:srgbClr val="C6DAF7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100377"/>
            <a:ext cx="730551" cy="3440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806" b="1">
                <a:solidFill>
                  <a:srgbClr val="EEF2F6"/>
                </a:solidFill>
                <a:latin typeface="Noto Sans KR"/>
                <a:ea typeface="Noto Sans KR"/>
              </a:rPr>
              <a:t>CRAH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9206" y="3439754"/>
            <a:ext cx="1702721" cy="26368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공기를</a:t>
            </a:r>
            <a:r>
              <a:rPr lang="en-US" sz="1384" b="0">
                <a:solidFill>
                  <a:srgbClr val="C6DAF7"/>
                </a:solidFill>
                <a:latin typeface="Noto Sans KR"/>
                <a:ea typeface="Noto Sans KR"/>
              </a:rPr>
              <a:t> </a:t>
            </a:r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식히는</a:t>
            </a:r>
            <a:r>
              <a:rPr lang="en-US" sz="1384" b="0">
                <a:solidFill>
                  <a:srgbClr val="C6DAF7"/>
                </a:solidFill>
                <a:latin typeface="Noto Sans KR"/>
                <a:ea typeface="Noto Sans KR"/>
              </a:rPr>
              <a:t> </a:t>
            </a:r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공조기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9582" y="4244263"/>
            <a:ext cx="1434867" cy="33470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56" b="1">
                <a:solidFill>
                  <a:srgbClr val="EEF2F6"/>
                </a:solidFill>
                <a:latin typeface="Noto Sans KR"/>
                <a:ea typeface="Noto Sans KR"/>
              </a:rPr>
              <a:t>네트워크</a:t>
            </a:r>
            <a:r>
              <a:rPr lang="en-US" sz="1756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1756" b="1">
                <a:solidFill>
                  <a:srgbClr val="EEF2F6"/>
                </a:solidFill>
                <a:latin typeface="Noto Sans KR"/>
                <a:ea typeface="Noto Sans KR"/>
              </a:rPr>
              <a:t>장비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0367" y="4583283"/>
            <a:ext cx="1122599" cy="25790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0">
                <a:solidFill>
                  <a:srgbClr val="DCD1F3"/>
                </a:solidFill>
                <a:latin typeface="Noto Sans KR"/>
                <a:ea typeface="Noto Sans KR"/>
              </a:rPr>
              <a:t>서버끼리</a:t>
            </a:r>
            <a:r>
              <a:rPr lang="en-US" sz="1353" b="0">
                <a:solidFill>
                  <a:srgbClr val="DCD1F3"/>
                </a:solidFill>
                <a:latin typeface="Noto Sans KR"/>
                <a:ea typeface="Noto Sans KR"/>
              </a:rPr>
              <a:t> </a:t>
            </a:r>
            <a:r>
              <a:rPr lang="ko-KR" sz="1353" b="0">
                <a:solidFill>
                  <a:srgbClr val="DCD1F3"/>
                </a:solidFill>
                <a:latin typeface="Noto Sans KR"/>
                <a:ea typeface="Noto Sans KR"/>
              </a:rPr>
              <a:t>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195" y="1904612"/>
            <a:ext cx="244141" cy="258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6" b="1">
                <a:solidFill>
                  <a:srgbClr val="3FC1D9"/>
                </a:solidFill>
                <a:latin typeface="Noto Sans KR"/>
                <a:ea typeface="Noto Sans KR"/>
              </a:rPr>
              <a:t>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6102" y="3051259"/>
            <a:ext cx="394740" cy="2599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4" b="1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4505" y="4191675"/>
            <a:ext cx="563969" cy="2585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1">
                <a:solidFill>
                  <a:srgbClr val="B9A3E8"/>
                </a:solidFill>
                <a:latin typeface="Noto Sans KR"/>
                <a:ea typeface="Noto Sans KR"/>
              </a:rPr>
              <a:t>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3505" y="1992679"/>
            <a:ext cx="599819" cy="2557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2" b="0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134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42" b="0">
                <a:solidFill>
                  <a:srgbClr val="EEF2F6"/>
                </a:solidFill>
                <a:latin typeface="Noto Sans KR"/>
                <a:ea typeface="Noto Sans KR"/>
              </a:rPr>
              <a:t>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0806" y="2500588"/>
            <a:ext cx="941626" cy="2567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EEF2F6"/>
                </a:solidFill>
                <a:latin typeface="Noto Sans KR"/>
                <a:ea typeface="Noto Sans KR"/>
              </a:rPr>
              <a:t>데이터</a:t>
            </a:r>
            <a:r>
              <a:rPr lang="en-US" sz="134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EEF2F6"/>
                </a:solidFill>
                <a:latin typeface="Noto Sans KR"/>
                <a:ea typeface="Noto Sans KR"/>
              </a:rPr>
              <a:t>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330" y="5449093"/>
            <a:ext cx="772947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135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EEF2F6"/>
                </a:solidFill>
                <a:latin typeface="Noto Sans KR"/>
                <a:ea typeface="Noto Sans KR"/>
              </a:rPr>
              <a:t>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6128" y="5446952"/>
            <a:ext cx="913620" cy="2461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292" b="0">
                <a:solidFill>
                  <a:srgbClr val="A9B9CC"/>
                </a:solidFill>
                <a:latin typeface="Noto Sans KR"/>
                <a:ea typeface="Noto Sans KR"/>
              </a:rPr>
              <a:t>— Enter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752" y="5449033"/>
            <a:ext cx="1286782" cy="2578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1">
                <a:solidFill>
                  <a:srgbClr val="EEF2F6"/>
                </a:solidFill>
                <a:latin typeface="Noto Sans KR"/>
                <a:ea typeface="Noto Sans KR"/>
              </a:rPr>
              <a:t>시뮬레이션</a:t>
            </a:r>
            <a:r>
              <a:rPr lang="en-US" sz="135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53" b="1">
                <a:solidFill>
                  <a:srgbClr val="EEF2F6"/>
                </a:solidFill>
                <a:latin typeface="Noto Sans KR"/>
                <a:ea typeface="Noto Sans KR"/>
              </a:rPr>
              <a:t>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5355" y="5446950"/>
            <a:ext cx="3452873" cy="2571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물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공기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장비를</a:t>
            </a:r>
            <a:r>
              <a:rPr lang="en-US" sz="135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같은</a:t>
            </a:r>
            <a:r>
              <a:rPr lang="en-US" sz="135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시계로</a:t>
            </a:r>
            <a:r>
              <a:rPr lang="en-US" sz="135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함께</a:t>
            </a:r>
            <a:r>
              <a:rPr lang="en-US" sz="1350" b="0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계산합니다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1 </a:t>
            </a:r>
            <a:r>
              <a:rPr lang="en-US" sz="1571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3</a:t>
            </a:r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355" y="1140101"/>
            <a:ext cx="2785790" cy="6005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장비</a:t>
            </a:r>
            <a:r>
              <a:rPr lang="en-US" sz="315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315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831" y="1967536"/>
            <a:ext cx="3560129" cy="4261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추가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이동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회전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복제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736" y="2420582"/>
            <a:ext cx="2640707" cy="4021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다중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선택과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그룹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831" y="2866779"/>
            <a:ext cx="1924716" cy="413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스냅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겹침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911" y="3318284"/>
            <a:ext cx="1727414" cy="4006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03" b="0">
                <a:solidFill>
                  <a:srgbClr val="EEF2F6"/>
                </a:solidFill>
                <a:latin typeface="Noto Sans KR"/>
                <a:ea typeface="Noto Sans KR"/>
              </a:rPr>
              <a:t>Undo / Redo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936837"/>
            <a:ext cx="4665453" cy="25585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배치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결과가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이후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계산의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장비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위치와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연결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관계로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사용됩니다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8103" y="2909060"/>
            <a:ext cx="1946357" cy="3280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실제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화면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삽입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5856" y="3326015"/>
            <a:ext cx="2372300" cy="25755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배치</a:t>
            </a:r>
            <a:r>
              <a:rPr lang="en-US" sz="135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모드</a:t>
            </a:r>
            <a:r>
              <a:rPr lang="en-US" sz="1352" b="0">
                <a:solidFill>
                  <a:srgbClr val="A9B9CC"/>
                </a:solidFill>
                <a:latin typeface="Noto Sans KR"/>
                <a:ea typeface="Noto Sans KR"/>
              </a:rPr>
              <a:t>: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랙</a:t>
            </a:r>
            <a:r>
              <a:rPr lang="en-US" sz="135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두</a:t>
            </a:r>
            <a:r>
              <a:rPr lang="en-US" sz="135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대</a:t>
            </a:r>
            <a:r>
              <a:rPr lang="en-US" sz="135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다중</a:t>
            </a:r>
            <a:r>
              <a:rPr lang="en-US" sz="135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2" b="0">
                <a:solidFill>
                  <a:srgbClr val="A9B9CC"/>
                </a:solidFill>
                <a:latin typeface="Noto Sans KR"/>
                <a:ea typeface="Noto Sans KR"/>
              </a:rPr>
              <a:t>선택</a:t>
            </a:r>
            <a:r>
              <a:rPr lang="en-US" sz="1352" b="0">
                <a:solidFill>
                  <a:srgbClr val="A9B9CC"/>
                </a:solidFill>
                <a:latin typeface="Noto Sans KR"/>
                <a:ea typeface="Noto Sans KR"/>
              </a:rPr>
              <a:t>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8255" y="3592549"/>
            <a:ext cx="2095654" cy="25936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61" b="0">
                <a:solidFill>
                  <a:srgbClr val="A9B9CC"/>
                </a:solidFill>
                <a:latin typeface="Noto Sans KR"/>
                <a:ea typeface="Noto Sans KR"/>
              </a:rPr>
              <a:t>Ctrl+D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복제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목적지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미리보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9930" y="3859714"/>
            <a:ext cx="596651" cy="25429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34" b="0">
                <a:solidFill>
                  <a:srgbClr val="A9B9CC"/>
                </a:solidFill>
                <a:latin typeface="Noto Sans KR"/>
                <a:ea typeface="Noto Sans KR"/>
              </a:rPr>
              <a:t>기</a:t>
            </a:r>
            <a:r>
              <a:rPr lang="en-US" sz="1334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A9B9CC"/>
                </a:solidFill>
                <a:latin typeface="Noto Sans KR"/>
                <a:ea typeface="Noto Sans KR"/>
              </a:rPr>
              <a:t>장면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0831" y="6139509"/>
            <a:ext cx="3472745" cy="252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랙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그룹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복제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미리보기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복원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8142"/>
            <a:ext cx="1672282" cy="2997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3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3" b="1">
                <a:solidFill>
                  <a:srgbClr val="3FC1D9"/>
                </a:solidFill>
                <a:latin typeface="Noto Sans KR"/>
                <a:ea typeface="Noto Sans KR"/>
              </a:rPr>
              <a:t> 2 </a:t>
            </a:r>
            <a:r>
              <a:rPr lang="en-US" sz="1573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3" b="1">
                <a:solidFill>
                  <a:srgbClr val="3FC1D9"/>
                </a:solidFill>
                <a:latin typeface="Noto Sans KR"/>
                <a:ea typeface="Noto Sans KR"/>
              </a:rPr>
              <a:t> 2</a:t>
            </a:r>
            <a:r>
              <a:rPr lang="ko-KR" sz="1573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  <a:r>
              <a:rPr lang="en-US" sz="1573" b="1">
                <a:solidFill>
                  <a:srgbClr val="3FC1D9"/>
                </a:solidFill>
                <a:latin typeface="Noto Sans KR"/>
                <a:ea typeface="Noto Sans KR"/>
              </a:rPr>
              <a:t> 30</a:t>
            </a:r>
            <a:r>
              <a:rPr lang="ko-KR" sz="1573" b="1">
                <a:solidFill>
                  <a:srgbClr val="3FC1D9"/>
                </a:solidFill>
                <a:latin typeface="Noto Sans KR"/>
                <a:ea typeface="Noto Sans KR"/>
              </a:rPr>
              <a:t>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037" y="1134191"/>
            <a:ext cx="3471764" cy="6067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구멍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705" y="1969473"/>
            <a:ext cx="2303480" cy="4050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자동</a:t>
            </a:r>
            <a:r>
              <a:rPr lang="en-US" sz="2126" b="0">
                <a:solidFill>
                  <a:srgbClr val="EEF2F6"/>
                </a:solidFill>
                <a:latin typeface="Noto Sans KR"/>
                <a:ea typeface="Noto Sans KR"/>
              </a:rPr>
              <a:t> /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수동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56" y="2420778"/>
            <a:ext cx="1768214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높이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831" y="2865047"/>
            <a:ext cx="2974699" cy="4025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부분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판과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내부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개방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435" y="3316012"/>
            <a:ext cx="3296066" cy="4013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다음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진입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때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격자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53" y="3935594"/>
            <a:ext cx="4421918" cy="25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구멍은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내부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판을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통과하는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개방입니다</a:t>
            </a:r>
            <a:r>
              <a:rPr lang="en-US" sz="1353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외부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배기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705" y="4202387"/>
            <a:ext cx="2265896" cy="2567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경계는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구현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범위가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아닙니다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8103" y="2909060"/>
            <a:ext cx="1946357" cy="3280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실제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화면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삽입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1381" y="3326049"/>
            <a:ext cx="2904771" cy="2571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방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범위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편집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: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요청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윤곽과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상자가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8853" y="3593496"/>
            <a:ext cx="2758107" cy="2608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함께</a:t>
            </a:r>
            <a:r>
              <a:rPr lang="en-US" sz="136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보이는</a:t>
            </a:r>
            <a:r>
              <a:rPr lang="en-US" sz="136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장면</a:t>
            </a:r>
            <a:r>
              <a:rPr lang="en-US" sz="1369" b="0">
                <a:solidFill>
                  <a:srgbClr val="A9B9CC"/>
                </a:solidFill>
                <a:latin typeface="Noto Sans KR"/>
                <a:ea typeface="Noto Sans KR"/>
              </a:rPr>
              <a:t> + 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천장</a:t>
            </a:r>
            <a:r>
              <a:rPr lang="en-US" sz="136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판</a:t>
            </a:r>
            <a:r>
              <a:rPr lang="en-US" sz="1369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구멍</a:t>
            </a:r>
            <a:r>
              <a:rPr lang="en-US" sz="136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9" b="0">
                <a:solidFill>
                  <a:srgbClr val="A9B9CC"/>
                </a:solidFill>
                <a:latin typeface="Noto Sans KR"/>
                <a:ea typeface="Noto Sans KR"/>
              </a:rPr>
              <a:t>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231" y="3859708"/>
            <a:ext cx="596794" cy="2543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35" b="0">
                <a:solidFill>
                  <a:srgbClr val="A9B9CC"/>
                </a:solidFill>
                <a:latin typeface="Noto Sans KR"/>
                <a:ea typeface="Noto Sans KR"/>
              </a:rPr>
              <a:t>택</a:t>
            </a:r>
            <a:r>
              <a:rPr lang="en-US" sz="133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35" b="0">
                <a:solidFill>
                  <a:srgbClr val="A9B9CC"/>
                </a:solidFill>
                <a:latin typeface="Noto Sans KR"/>
                <a:ea typeface="Noto Sans KR"/>
              </a:rPr>
              <a:t>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7656" y="6139186"/>
            <a:ext cx="3043076" cy="2562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방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크기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높이</a:t>
            </a:r>
            <a:r>
              <a:rPr lang="en-US" sz="1345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판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구멍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45" b="0">
                <a:solidFill>
                  <a:srgbClr val="C9D6E3"/>
                </a:solidFill>
                <a:latin typeface="Noto Sans KR"/>
                <a:ea typeface="Noto Sans KR"/>
              </a:rPr>
              <a:t> → Undo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3 </a:t>
            </a:r>
            <a:r>
              <a:rPr lang="en-US" sz="1571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2</a:t>
            </a:r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0736" y="1140728"/>
            <a:ext cx="4416819" cy="5930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케이블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연결과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9536" y="1943552"/>
            <a:ext cx="2573540" cy="41070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55" b="0">
                <a:solidFill>
                  <a:srgbClr val="EEF2F6"/>
                </a:solidFill>
                <a:latin typeface="Noto Sans KR"/>
                <a:ea typeface="Noto Sans KR"/>
              </a:rPr>
              <a:t>–CDU </a:t>
            </a:r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5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9536" y="2518155"/>
            <a:ext cx="3025458" cy="4062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32" b="0">
                <a:solidFill>
                  <a:srgbClr val="EEF2F6"/>
                </a:solidFill>
                <a:latin typeface="Noto Sans KR"/>
                <a:ea typeface="Noto Sans KR"/>
              </a:rPr>
              <a:t>–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스파인</a:t>
            </a:r>
            <a:r>
              <a:rPr lang="en-US" sz="213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데이터</a:t>
            </a:r>
            <a:r>
              <a:rPr lang="en-US" sz="213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케이블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9060" y="3081048"/>
            <a:ext cx="2966654" cy="4014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변경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시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경로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재구성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7631" y="3651415"/>
            <a:ext cx="3531322" cy="4138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포트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점유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미연결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간섭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4222277"/>
            <a:ext cx="4500500" cy="25939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배선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계획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진단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기능입니다</a:t>
            </a:r>
            <a:r>
              <a:rPr lang="en-US" sz="1361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모든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장애물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자동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회피</a:t>
            </a:r>
            <a:r>
              <a:rPr lang="en-US" sz="1361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케이블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53" y="4488921"/>
            <a:ext cx="2915435" cy="2600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굽힘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장력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계산은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포함하지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않습니다</a:t>
            </a:r>
            <a:r>
              <a:rPr lang="en-US" sz="1365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8103" y="2909060"/>
            <a:ext cx="1946357" cy="3280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실제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화면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삽입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2527" y="3326049"/>
            <a:ext cx="2311075" cy="2571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패치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맵</a:t>
            </a:r>
            <a:r>
              <a:rPr lang="en-US" sz="1350" b="0">
                <a:solidFill>
                  <a:srgbClr val="A9B9CC"/>
                </a:solidFill>
                <a:latin typeface="Noto Sans KR"/>
                <a:ea typeface="Noto Sans KR"/>
              </a:rPr>
              <a:t>: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케이블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하나를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선택해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4580" y="3593506"/>
            <a:ext cx="2631350" cy="2607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연결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장비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포트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계획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길이가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보이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3103" y="3859420"/>
            <a:ext cx="603525" cy="257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1" b="0">
                <a:solidFill>
                  <a:srgbClr val="A9B9CC"/>
                </a:solidFill>
                <a:latin typeface="Noto Sans KR"/>
                <a:ea typeface="Noto Sans KR"/>
              </a:rPr>
              <a:t>는</a:t>
            </a:r>
            <a:r>
              <a:rPr lang="en-US" sz="135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1" b="0">
                <a:solidFill>
                  <a:srgbClr val="A9B9CC"/>
                </a:solidFill>
                <a:latin typeface="Noto Sans KR"/>
                <a:ea typeface="Noto Sans KR"/>
              </a:rPr>
              <a:t>장면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0831" y="6137635"/>
            <a:ext cx="3990567" cy="25532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랙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후면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연결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패치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맵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케이블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포트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선택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닫기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4 </a:t>
            </a:r>
            <a:r>
              <a:rPr lang="en-US" sz="1571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3</a:t>
            </a:r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307" y="1142705"/>
            <a:ext cx="5112669" cy="5992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부하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통합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081" y="2139047"/>
            <a:ext cx="585316" cy="40401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1">
                <a:solidFill>
                  <a:srgbClr val="D6E1EC"/>
                </a:solidFill>
                <a:latin typeface="Noto Sans KR"/>
                <a:ea typeface="Noto Sans KR"/>
              </a:rPr>
              <a:t>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430" y="2569992"/>
            <a:ext cx="1198844" cy="33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부하율</a:t>
            </a:r>
            <a:r>
              <a:rPr lang="en-US" sz="17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430" y="2970048"/>
            <a:ext cx="1198619" cy="33083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펌프</a:t>
            </a:r>
            <a:r>
              <a:rPr lang="en-US" sz="17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회전수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05" y="3363880"/>
            <a:ext cx="1464900" cy="3293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서버</a:t>
            </a:r>
            <a:r>
              <a:rPr lang="en-US" sz="172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유닛</a:t>
            </a:r>
            <a:r>
              <a:rPr lang="en-US" sz="172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탈착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7578" y="2137826"/>
            <a:ext cx="588576" cy="4064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3" b="1">
                <a:solidFill>
                  <a:srgbClr val="3FC1D9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958" y="2572055"/>
            <a:ext cx="1806726" cy="3378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발열</a:t>
            </a:r>
            <a:r>
              <a:rPr lang="en-US" sz="1773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부품</a:t>
            </a:r>
            <a:r>
              <a:rPr lang="en-US" sz="177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열용량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657" y="2970095"/>
            <a:ext cx="1905908" cy="3303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네트워크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유량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1705" y="3366048"/>
            <a:ext cx="2075754" cy="3363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흐름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흡기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9631" y="2138578"/>
            <a:ext cx="592407" cy="4093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8" b="1">
                <a:solidFill>
                  <a:srgbClr val="F2A65E"/>
                </a:solidFill>
                <a:latin typeface="Noto Sans KR"/>
                <a:ea typeface="Noto Sans KR"/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9155" y="2570054"/>
            <a:ext cx="2177252" cy="3302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시간에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따른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408" y="2975062"/>
            <a:ext cx="1797871" cy="3361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1764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흡기</a:t>
            </a:r>
            <a:r>
              <a:rPr lang="en-US" sz="1764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" y="4208156"/>
            <a:ext cx="6145984" cy="40372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정해진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애니메이션이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아니라</a:t>
            </a:r>
            <a:r>
              <a:rPr lang="en-US" sz="2119" b="1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모델이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만든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53" y="4901977"/>
            <a:ext cx="6887491" cy="25654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부하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조절은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모든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랙에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함께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적용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유닛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탈착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(E)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은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바라보는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유닛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하나에만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적용됩니다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8132" y="6142292"/>
            <a:ext cx="3418260" cy="251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Enter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부하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변경</a:t>
            </a:r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펌프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조절</a:t>
            </a:r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유닛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탈착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5 </a:t>
            </a:r>
            <a:r>
              <a:rPr lang="en-US" sz="1571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2</a:t>
            </a:r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307" y="1137245"/>
            <a:ext cx="4244824" cy="6024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기류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분기관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403" y="1970293"/>
            <a:ext cx="2226708" cy="4070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36" b="0">
                <a:solidFill>
                  <a:srgbClr val="EEF2F6"/>
                </a:solidFill>
                <a:latin typeface="Noto Sans KR"/>
                <a:ea typeface="Noto Sans KR"/>
              </a:rPr>
              <a:t>3D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21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21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볼륨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831" y="2420414"/>
            <a:ext cx="3187024" cy="4040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속도장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움직이는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무늬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736" y="2864512"/>
            <a:ext cx="3116337" cy="4084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공급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회수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분기관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7880" y="3484852"/>
            <a:ext cx="4611937" cy="25660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기류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무늬는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이해를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돕는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시각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표현으로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유선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입자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751361"/>
            <a:ext cx="4786439" cy="25869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이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아닙니다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배관은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랙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분기관만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표시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헤더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펌프는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회색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8103" y="2909060"/>
            <a:ext cx="1946357" cy="3280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실제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화면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삽입</a:t>
            </a:r>
            <a:r>
              <a:rPr lang="en-US" sz="1722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22" b="1">
                <a:solidFill>
                  <a:srgbClr val="D6E1EC"/>
                </a:solidFill>
                <a:latin typeface="Noto Sans KR"/>
                <a:ea typeface="Noto Sans KR"/>
              </a:rPr>
              <a:t>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1080" y="3325861"/>
            <a:ext cx="2635892" cy="2592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예열된</a:t>
            </a:r>
            <a:r>
              <a:rPr lang="en-US" sz="136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6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볼륨</a:t>
            </a:r>
            <a:r>
              <a:rPr lang="en-US" sz="1360" b="0">
                <a:solidFill>
                  <a:srgbClr val="A9B9CC"/>
                </a:solidFill>
                <a:latin typeface="Noto Sans KR"/>
                <a:ea typeface="Noto Sans KR"/>
              </a:rPr>
              <a:t> + </a:t>
            </a:r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기류</a:t>
            </a:r>
            <a:r>
              <a:rPr lang="en-US" sz="136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무늬</a:t>
            </a:r>
            <a:r>
              <a:rPr lang="en-US" sz="136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0" b="0">
                <a:solidFill>
                  <a:srgbClr val="A9B9CC"/>
                </a:solidFill>
                <a:latin typeface="Noto Sans KR"/>
                <a:ea typeface="Noto Sans KR"/>
              </a:rPr>
              <a:t>장면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3632" y="3592116"/>
            <a:ext cx="2617751" cy="26408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86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색상</a:t>
            </a:r>
            <a:r>
              <a:rPr lang="en-US" sz="138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범례</a:t>
            </a:r>
            <a:r>
              <a:rPr lang="en-US" sz="1386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표시</a:t>
            </a:r>
            <a:r>
              <a:rPr lang="en-US" sz="138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범위</a:t>
            </a:r>
            <a:r>
              <a:rPr lang="en-US" sz="1386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촬영일</a:t>
            </a:r>
            <a:r>
              <a:rPr lang="en-US" sz="1386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6" b="0">
                <a:solidFill>
                  <a:srgbClr val="A9B9CC"/>
                </a:solidFill>
                <a:latin typeface="Noto Sans KR"/>
                <a:ea typeface="Noto Sans KR"/>
              </a:rPr>
              <a:t>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7703" y="3859512"/>
            <a:ext cx="663693" cy="256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성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표기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703" y="6142071"/>
            <a:ext cx="5064541" cy="2542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온도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볼륨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관찰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기류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무늬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끄기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켜기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분기관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온도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기본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복귀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6 </a:t>
            </a:r>
            <a:r>
              <a:rPr lang="en-US" sz="1571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en-US" sz="1571" b="1">
                <a:solidFill>
                  <a:srgbClr val="3FC1D9"/>
                </a:solidFill>
                <a:latin typeface="Noto Sans KR"/>
                <a:ea typeface="Noto Sans KR"/>
              </a:rPr>
              <a:t> 2</a:t>
            </a:r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705" y="1137690"/>
            <a:ext cx="5094278" cy="5971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831" y="1969121"/>
            <a:ext cx="1988143" cy="4088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구성</a:t>
            </a:r>
            <a:r>
              <a:rPr lang="en-US" sz="214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2146" b="0">
                <a:solidFill>
                  <a:srgbClr val="EEF2F6"/>
                </a:solidFill>
                <a:latin typeface="Noto Sans KR"/>
                <a:ea typeface="Noto Sans KR"/>
              </a:rPr>
              <a:t> / </a:t>
            </a:r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657" y="2419435"/>
            <a:ext cx="3622606" cy="4146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2176" b="0">
                <a:solidFill>
                  <a:srgbClr val="EEF2F6"/>
                </a:solidFill>
                <a:latin typeface="Noto Sans KR"/>
                <a:ea typeface="Noto Sans KR"/>
              </a:rPr>
              <a:t>: 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지연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샘플링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잡음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355" y="2864360"/>
            <a:ext cx="2909202" cy="4100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파일</a:t>
            </a:r>
            <a:r>
              <a:rPr lang="en-US" sz="215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리포트와</a:t>
            </a:r>
            <a:r>
              <a:rPr lang="en-US" sz="2152" b="0">
                <a:solidFill>
                  <a:srgbClr val="EEF2F6"/>
                </a:solidFill>
                <a:latin typeface="Noto Sans KR"/>
                <a:ea typeface="Noto Sans KR"/>
              </a:rPr>
              <a:t> A/B </a:t>
            </a:r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53" y="3485176"/>
            <a:ext cx="4872027" cy="26512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부분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 PUE = (IT + CRAH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 +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) ÷ IT.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칠러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냉각탑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UPS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752588"/>
            <a:ext cx="4459122" cy="2569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배전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손실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조명이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빠져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있어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시설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전체</a:t>
            </a:r>
            <a:r>
              <a:rPr lang="en-US" sz="1349" b="0">
                <a:solidFill>
                  <a:srgbClr val="A9B9CC"/>
                </a:solidFill>
                <a:latin typeface="Noto Sans KR"/>
                <a:ea typeface="Noto Sans KR"/>
              </a:rPr>
              <a:t> PUE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와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비교할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수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53" y="4019348"/>
            <a:ext cx="3033459" cy="2563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습니다</a:t>
            </a:r>
            <a:r>
              <a:rPr lang="en-US" sz="1345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웹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대시보드는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향후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계획입니다</a:t>
            </a:r>
            <a:r>
              <a:rPr lang="en-US" sz="1345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6503" y="2906183"/>
            <a:ext cx="2177123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3" b="1">
                <a:solidFill>
                  <a:srgbClr val="D6E1EC"/>
                </a:solidFill>
                <a:latin typeface="Noto Sans KR"/>
                <a:ea typeface="Noto Sans KR"/>
              </a:rPr>
              <a:t>실제</a:t>
            </a:r>
            <a:r>
              <a:rPr lang="en-US" sz="1733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33" b="1">
                <a:solidFill>
                  <a:srgbClr val="D6E1EC"/>
                </a:solidFill>
                <a:latin typeface="Noto Sans KR"/>
                <a:ea typeface="Noto Sans KR"/>
              </a:rPr>
              <a:t>리포트</a:t>
            </a:r>
            <a:r>
              <a:rPr lang="en-US" sz="1733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33" b="1">
                <a:solidFill>
                  <a:srgbClr val="D6E1EC"/>
                </a:solidFill>
                <a:latin typeface="Noto Sans KR"/>
                <a:ea typeface="Noto Sans KR"/>
              </a:rPr>
              <a:t>삽입</a:t>
            </a:r>
            <a:r>
              <a:rPr lang="en-US" sz="1733" b="1">
                <a:solidFill>
                  <a:srgbClr val="D6E1EC"/>
                </a:solidFill>
                <a:latin typeface="Segoe UI"/>
                <a:ea typeface="Segoe UI"/>
              </a:rPr>
              <a:t> </a:t>
            </a:r>
            <a:r>
              <a:rPr lang="ko-KR" sz="1733" b="1">
                <a:solidFill>
                  <a:srgbClr val="D6E1EC"/>
                </a:solidFill>
                <a:latin typeface="Noto Sans KR"/>
                <a:ea typeface="Noto Sans KR"/>
              </a:rPr>
              <a:t>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4080" y="3327894"/>
            <a:ext cx="3039574" cy="2607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리포트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발췌</a:t>
            </a:r>
            <a:r>
              <a:rPr lang="en-US" sz="1368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흡기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전력</a:t>
            </a:r>
            <a:r>
              <a:rPr lang="en-US" sz="1368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8" b="0">
                <a:solidFill>
                  <a:srgbClr val="A9B9CC"/>
                </a:solidFill>
                <a:latin typeface="Noto Sans KR"/>
                <a:ea typeface="Noto Sans KR"/>
              </a:rPr>
              <a:t>센서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7703" y="3592037"/>
            <a:ext cx="748288" cy="26495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90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90" b="0">
                <a:solidFill>
                  <a:srgbClr val="A9B9CC"/>
                </a:solidFill>
                <a:latin typeface="Noto Sans KR"/>
                <a:ea typeface="Noto Sans KR"/>
              </a:rPr>
              <a:t>열수지</a:t>
            </a:r>
            <a:r>
              <a:rPr lang="en-US" sz="1390" b="0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527" y="3859163"/>
            <a:ext cx="2053876" cy="2603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66" b="0">
                <a:solidFill>
                  <a:srgbClr val="A9B9CC"/>
                </a:solidFill>
                <a:latin typeface="Noto Sans KR"/>
                <a:ea typeface="Noto Sans KR"/>
              </a:rPr>
              <a:t>+ </a:t>
            </a:r>
            <a:r>
              <a:rPr lang="ko-KR" sz="1366" b="0">
                <a:solidFill>
                  <a:srgbClr val="A9B9CC"/>
                </a:solidFill>
                <a:latin typeface="Noto Sans KR"/>
                <a:ea typeface="Noto Sans KR"/>
              </a:rPr>
              <a:t>같은</a:t>
            </a:r>
            <a:r>
              <a:rPr lang="en-US" sz="136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6" b="0">
                <a:solidFill>
                  <a:srgbClr val="A9B9CC"/>
                </a:solidFill>
                <a:latin typeface="Noto Sans KR"/>
                <a:ea typeface="Noto Sans KR"/>
              </a:rPr>
              <a:t>조건</a:t>
            </a:r>
            <a:r>
              <a:rPr lang="en-US" sz="1366" b="0">
                <a:solidFill>
                  <a:srgbClr val="A9B9CC"/>
                </a:solidFill>
                <a:latin typeface="Noto Sans KR"/>
                <a:ea typeface="Noto Sans KR"/>
              </a:rPr>
              <a:t> A/B </a:t>
            </a:r>
            <a:r>
              <a:rPr lang="ko-KR" sz="1366" b="0">
                <a:solidFill>
                  <a:srgbClr val="A9B9CC"/>
                </a:solidFill>
                <a:latin typeface="Noto Sans KR"/>
                <a:ea typeface="Noto Sans KR"/>
              </a:rPr>
              <a:t>비교</a:t>
            </a:r>
            <a:r>
              <a:rPr lang="en-US" sz="136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6" b="0">
                <a:solidFill>
                  <a:srgbClr val="A9B9CC"/>
                </a:solidFill>
                <a:latin typeface="Noto Sans KR"/>
                <a:ea typeface="Noto Sans KR"/>
              </a:rPr>
              <a:t>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1307" y="6140285"/>
            <a:ext cx="4853499" cy="2558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리포트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저장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실제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리포트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확인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A/B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비교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배치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저장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복원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6872"/>
            <a:ext cx="2003738" cy="2826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제대로</a:t>
            </a:r>
            <a:r>
              <a:rPr lang="en-US" sz="1483" b="1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계산되는지</a:t>
            </a:r>
            <a:r>
              <a:rPr lang="en-US" sz="1483" b="1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355" y="1138609"/>
            <a:ext cx="7691335" cy="5860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계산이</a:t>
            </a:r>
            <a:r>
              <a:rPr lang="en-US" sz="3076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맞게</a:t>
            </a:r>
            <a:r>
              <a:rPr lang="en-US" sz="3076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돌아가는지</a:t>
            </a:r>
            <a:r>
              <a:rPr lang="en-US" sz="3076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이렇게</a:t>
            </a:r>
            <a:r>
              <a:rPr lang="en-US" sz="3076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확인했습니다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908" y="2172271"/>
            <a:ext cx="2212074" cy="83735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395" b="1">
                <a:solidFill>
                  <a:srgbClr val="3FC1D9"/>
                </a:solidFill>
                <a:latin typeface="Noto Sans KR"/>
                <a:ea typeface="Noto Sans KR"/>
              </a:rPr>
              <a:t>222</a:t>
            </a:r>
            <a:r>
              <a:rPr lang="ko-KR" sz="4395" b="1">
                <a:solidFill>
                  <a:srgbClr val="3FC1D9"/>
                </a:solidFill>
                <a:latin typeface="Noto Sans KR"/>
                <a:ea typeface="Noto Sans KR"/>
              </a:rPr>
              <a:t>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352" y="2931891"/>
            <a:ext cx="2363905" cy="4026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자동</a:t>
            </a:r>
            <a:r>
              <a:rPr lang="en-US" sz="2113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검사</a:t>
            </a:r>
            <a:r>
              <a:rPr lang="en-US" sz="2113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모두</a:t>
            </a:r>
            <a:r>
              <a:rPr lang="en-US" sz="2113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통과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653" y="3541034"/>
            <a:ext cx="2676999" cy="2671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코드를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고칠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때마다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계산이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맞는지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653" y="3808704"/>
            <a:ext cx="2699048" cy="2565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프로그램이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스스로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다시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확인합니다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5770" y="2255948"/>
            <a:ext cx="3831505" cy="8009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204" b="1">
                <a:solidFill>
                  <a:srgbClr val="F2A65E"/>
                </a:solidFill>
                <a:latin typeface="Noto Sans KR"/>
                <a:ea typeface="Noto Sans KR"/>
              </a:rPr>
              <a:t>1.27 </a:t>
            </a:r>
            <a:r>
              <a:rPr lang="en-US" sz="4204" b="1">
                <a:solidFill>
                  <a:srgbClr val="F2A65E"/>
                </a:solidFill>
                <a:latin typeface="Segoe UI"/>
                <a:ea typeface="Segoe UI"/>
              </a:rPr>
              <a:t>×</a:t>
            </a:r>
            <a:r>
              <a:rPr lang="en-US" sz="4204" b="1">
                <a:solidFill>
                  <a:srgbClr val="F2A65E"/>
                </a:solidFill>
                <a:latin typeface="Noto Sans KR"/>
                <a:ea typeface="Noto Sans KR"/>
              </a:rPr>
              <a:t> 10⁻¹⁴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5455" y="2932020"/>
            <a:ext cx="2541563" cy="40115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2105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장부</a:t>
            </a:r>
            <a:r>
              <a:rPr lang="en-US" sz="2105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오차</a:t>
            </a:r>
            <a:r>
              <a:rPr lang="en-US" sz="2105" b="1">
                <a:solidFill>
                  <a:srgbClr val="EEF2F6"/>
                </a:solidFill>
                <a:latin typeface="Noto Sans KR"/>
                <a:ea typeface="Noto Sans KR"/>
              </a:rPr>
              <a:t> (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거의</a:t>
            </a:r>
            <a:r>
              <a:rPr lang="en-US" sz="2105" b="1">
                <a:solidFill>
                  <a:srgbClr val="EEF2F6"/>
                </a:solidFill>
                <a:latin typeface="Noto Sans KR"/>
                <a:ea typeface="Noto Sans KR"/>
              </a:rPr>
              <a:t>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1328" y="3541998"/>
            <a:ext cx="2231344" cy="2566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들어온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 =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나간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 +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쌓인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8153" y="3809826"/>
            <a:ext cx="3266773" cy="2559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100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조분의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1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수준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열이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새거나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생기지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580" y="2182334"/>
            <a:ext cx="2735752" cy="83821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400" b="1">
                <a:solidFill>
                  <a:srgbClr val="6FA8FF"/>
                </a:solidFill>
                <a:latin typeface="Noto Sans KR"/>
                <a:ea typeface="Noto Sans KR"/>
              </a:rPr>
              <a:t>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1230" y="2933589"/>
            <a:ext cx="2362823" cy="4024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설치</a:t>
            </a:r>
            <a:r>
              <a:rPr lang="en-US" sz="2112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없이</a:t>
            </a:r>
            <a:r>
              <a:rPr lang="en-US" sz="2112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단독</a:t>
            </a:r>
            <a:r>
              <a:rPr lang="en-US" sz="2112" b="1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182" y="3542067"/>
            <a:ext cx="2441898" cy="25590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개발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도구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없이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실행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파일로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동작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1706" y="3809102"/>
            <a:ext cx="2816285" cy="2642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배치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8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표시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저장</a:t>
            </a:r>
            <a:r>
              <a:rPr lang="en-US" sz="138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불러오기</a:t>
            </a:r>
            <a:r>
              <a:rPr lang="en-US" sz="138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052" y="4769543"/>
            <a:ext cx="412082" cy="25837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참고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005" y="5072606"/>
            <a:ext cx="7497854" cy="26592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장부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오차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= |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들어온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−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나간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−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쌓인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| ÷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들어온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  (0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에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가까울수록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계산이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앞뒤가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맞음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703" y="5341875"/>
            <a:ext cx="8062448" cy="2604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단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이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값은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'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계산이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일관된가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'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를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보여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줄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뿐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건물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온도와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맞는지는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아직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측정값과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비교하지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않았습니다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406"/>
            <a:ext cx="1009162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현재</a:t>
            </a:r>
            <a:r>
              <a:rPr lang="en-US" sz="1450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진행도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006" y="1140180"/>
            <a:ext cx="8576286" cy="5970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핵심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3134" b="1">
                <a:solidFill>
                  <a:srgbClr val="EEF2F6"/>
                </a:solidFill>
                <a:latin typeface="Noto Sans KR"/>
                <a:ea typeface="Noto Sans KR"/>
              </a:rPr>
              <a:t> MVP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에서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시각화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비교까지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105" y="1953089"/>
            <a:ext cx="967299" cy="4225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218" b="1">
                <a:solidFill>
                  <a:srgbClr val="EEF2F6"/>
                </a:solidFill>
                <a:latin typeface="Noto Sans KR"/>
                <a:ea typeface="Noto Sans KR"/>
              </a:rPr>
              <a:t>S0~S4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7282" y="1957271"/>
            <a:ext cx="4138520" cy="41860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실행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수력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통합</a:t>
            </a:r>
            <a:r>
              <a:rPr lang="en-US" sz="2197" b="0">
                <a:solidFill>
                  <a:srgbClr val="EEF2F6"/>
                </a:solidFill>
                <a:latin typeface="Noto Sans KR"/>
                <a:ea typeface="Noto Sans KR"/>
              </a:rPr>
              <a:t>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26503" y="198955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406" y="2489298"/>
            <a:ext cx="419002" cy="42176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214" b="1">
                <a:solidFill>
                  <a:srgbClr val="EEF2F6"/>
                </a:solidFill>
                <a:latin typeface="Noto Sans KR"/>
                <a:ea typeface="Noto Sans KR"/>
              </a:rPr>
              <a:t>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631" y="2492178"/>
            <a:ext cx="4371201" cy="4125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옥트리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자동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적응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en-US" sz="2165" b="0">
                <a:solidFill>
                  <a:srgbClr val="EEF2F6"/>
                </a:solidFill>
                <a:latin typeface="Noto Sans KR"/>
                <a:ea typeface="Noto Sans KR"/>
              </a:rPr>
              <a:t>LOD </a:t>
            </a:r>
            <a:r>
              <a:rPr lang="en-US" sz="2165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2165" b="0">
                <a:solidFill>
                  <a:srgbClr val="A9B9CC"/>
                </a:solidFill>
                <a:latin typeface="Noto Sans KR"/>
                <a:ea typeface="Noto Sans KR"/>
              </a:rPr>
              <a:t>비교</a:t>
            </a:r>
            <a:r>
              <a:rPr lang="en-US" sz="21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2165" b="0">
                <a:solidFill>
                  <a:srgbClr val="A9B9CC"/>
                </a:solidFill>
                <a:latin typeface="Noto Sans KR"/>
                <a:ea typeface="Noto Sans KR"/>
              </a:rPr>
              <a:t>한계</a:t>
            </a:r>
            <a:r>
              <a:rPr lang="en-US" sz="2165" b="0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26503" y="252295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105" y="3018679"/>
            <a:ext cx="415357" cy="4175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92" b="1">
                <a:solidFill>
                  <a:srgbClr val="EEF2F6"/>
                </a:solidFill>
                <a:latin typeface="Noto Sans KR"/>
                <a:ea typeface="Noto Sans KR"/>
              </a:rPr>
              <a:t>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5060" y="3016685"/>
            <a:ext cx="4116737" cy="4108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6503" y="305000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105" y="3548667"/>
            <a:ext cx="409035" cy="410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4" b="1">
                <a:solidFill>
                  <a:srgbClr val="EEF2F6"/>
                </a:solidFill>
                <a:latin typeface="Noto Sans KR"/>
                <a:ea typeface="Noto Sans KR"/>
              </a:rPr>
              <a:t>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330" y="3551750"/>
            <a:ext cx="4814481" cy="411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핵심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구현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  <a:r>
              <a:rPr lang="en-US" sz="2159" b="0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웹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대시보드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남음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4730" y="3587189"/>
            <a:ext cx="970504" cy="3275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19" b="1">
                <a:solidFill>
                  <a:srgbClr val="1C1A12"/>
                </a:solidFill>
                <a:latin typeface="Noto Sans KR"/>
                <a:ea typeface="Noto Sans KR"/>
              </a:rPr>
              <a:t>일부</a:t>
            </a:r>
            <a:r>
              <a:rPr lang="en-US" sz="1719" b="1">
                <a:solidFill>
                  <a:srgbClr val="1C1A12"/>
                </a:solidFill>
                <a:latin typeface="Segoe UI"/>
                <a:ea typeface="Segoe UI"/>
              </a:rPr>
              <a:t> </a:t>
            </a:r>
            <a:r>
              <a:rPr lang="ko-KR" sz="1719" b="1">
                <a:solidFill>
                  <a:srgbClr val="1C1A12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105" y="4080680"/>
            <a:ext cx="601359" cy="41194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62" b="1">
                <a:solidFill>
                  <a:srgbClr val="EEF2F6"/>
                </a:solidFill>
                <a:latin typeface="Noto Sans KR"/>
                <a:ea typeface="Noto Sans KR"/>
              </a:rPr>
              <a:t>S2b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3631" y="4079556"/>
            <a:ext cx="3532013" cy="4139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누수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재고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장애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6808" y="4112306"/>
            <a:ext cx="715061" cy="3347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57" b="1">
                <a:solidFill>
                  <a:srgbClr val="EEF2F6"/>
                </a:solidFill>
                <a:latin typeface="Noto Sans KR"/>
                <a:ea typeface="Noto Sans KR"/>
              </a:rPr>
              <a:t>미착수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453" y="4608963"/>
            <a:ext cx="588843" cy="4066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4" b="1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9981" y="4603334"/>
            <a:ext cx="4921419" cy="4201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시뮬레이션</a:t>
            </a:r>
            <a:r>
              <a:rPr lang="en-US" sz="220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약</a:t>
            </a:r>
            <a:r>
              <a:rPr lang="en-US" sz="2205" b="0">
                <a:solidFill>
                  <a:srgbClr val="EEF2F6"/>
                </a:solidFill>
                <a:latin typeface="Noto Sans KR"/>
                <a:ea typeface="Noto Sans KR"/>
              </a:rPr>
              <a:t> 52.9 FPS </a:t>
            </a:r>
            <a:r>
              <a:rPr lang="en-US" sz="2205" b="0">
                <a:solidFill>
                  <a:srgbClr val="EEF2F6"/>
                </a:solidFill>
                <a:latin typeface="Segoe UI"/>
                <a:ea typeface="Segoe UI"/>
              </a:rPr>
              <a:t>· </a:t>
            </a:r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목표</a:t>
            </a:r>
            <a:r>
              <a:rPr lang="en-US" sz="2205" b="0">
                <a:solidFill>
                  <a:srgbClr val="EEF2F6"/>
                </a:solidFill>
                <a:latin typeface="Noto Sans KR"/>
                <a:ea typeface="Noto Sans KR"/>
              </a:rPr>
              <a:t> 60 FPS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4253" y="4642553"/>
            <a:ext cx="973897" cy="3287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5" b="1">
                <a:solidFill>
                  <a:srgbClr val="2A0E08"/>
                </a:solidFill>
                <a:latin typeface="Noto Sans KR"/>
                <a:ea typeface="Noto Sans KR"/>
              </a:rPr>
              <a:t>목표</a:t>
            </a:r>
            <a:r>
              <a:rPr lang="en-US" sz="1725" b="1">
                <a:solidFill>
                  <a:srgbClr val="2A0E08"/>
                </a:solidFill>
                <a:latin typeface="Segoe UI"/>
                <a:ea typeface="Segoe UI"/>
              </a:rPr>
              <a:t> </a:t>
            </a:r>
            <a:r>
              <a:rPr lang="ko-KR" sz="1725" b="1">
                <a:solidFill>
                  <a:srgbClr val="2A0E08"/>
                </a:solidFill>
                <a:latin typeface="Noto Sans KR"/>
                <a:ea typeface="Noto Sans KR"/>
              </a:rPr>
              <a:t>미달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28" y="5953687"/>
            <a:ext cx="11287923" cy="2709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성능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: Ryzen 7 8845HS / RTX 4060 Laptop 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1280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×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720 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32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랙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33,210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셀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CPU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병렬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난류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Editor -game. Frame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중앙값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배치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13.73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82" y="6221418"/>
            <a:ext cx="9670424" cy="2597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ms(≈72.8 FPS),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시뮬레이션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18.90 ms(≈52.9 FPS)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의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역수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—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평균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최저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최종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패키지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FPS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가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아니며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다른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PC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보장값이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아님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2006" y="838414"/>
            <a:ext cx="831502" cy="2780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9" b="1">
                <a:solidFill>
                  <a:srgbClr val="3FC1D9"/>
                </a:solidFill>
                <a:latin typeface="Noto Sans KR"/>
                <a:ea typeface="Noto Sans KR"/>
              </a:rPr>
              <a:t>다음</a:t>
            </a:r>
            <a:r>
              <a:rPr lang="en-US" sz="1459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59" b="1">
                <a:solidFill>
                  <a:srgbClr val="3FC1D9"/>
                </a:solidFill>
                <a:latin typeface="Noto Sans KR"/>
                <a:ea typeface="Noto Sans KR"/>
              </a:rPr>
              <a:t>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657" y="1141039"/>
            <a:ext cx="6508160" cy="58930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3093" b="1">
                <a:solidFill>
                  <a:srgbClr val="EEF2F6"/>
                </a:solidFill>
                <a:latin typeface="Noto Sans KR"/>
                <a:ea typeface="Noto Sans KR"/>
              </a:rPr>
              <a:t>S7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을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마무리한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뒤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마지막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단계</a:t>
            </a:r>
            <a:r>
              <a:rPr lang="en-US" sz="3093" b="1">
                <a:solidFill>
                  <a:srgbClr val="EEF2F6"/>
                </a:solidFill>
                <a:latin typeface="Noto Sans KR"/>
                <a:ea typeface="Noto Sans KR"/>
              </a:rPr>
              <a:t> S2b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928" y="2081532"/>
            <a:ext cx="1992996" cy="4110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7" b="1">
                <a:solidFill>
                  <a:srgbClr val="EEF2F6"/>
                </a:solidFill>
                <a:latin typeface="Noto Sans KR"/>
                <a:ea typeface="Noto Sans KR"/>
              </a:rPr>
              <a:t>① S7 </a:t>
            </a:r>
            <a:r>
              <a:rPr lang="ko-KR" sz="2157" b="1">
                <a:solidFill>
                  <a:srgbClr val="EEF2F6"/>
                </a:solidFill>
                <a:latin typeface="Noto Sans KR"/>
                <a:ea typeface="Noto Sans KR"/>
              </a:rPr>
              <a:t>남은</a:t>
            </a:r>
            <a:r>
              <a:rPr lang="en-US" sz="2157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7" b="1">
                <a:solidFill>
                  <a:srgbClr val="EEF2F6"/>
                </a:solidFill>
                <a:latin typeface="Noto Sans KR"/>
                <a:ea typeface="Noto Sans KR"/>
              </a:rPr>
              <a:t>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4878" y="2148720"/>
            <a:ext cx="772963" cy="2571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1C1A12"/>
                </a:solidFill>
                <a:latin typeface="Noto Sans KR"/>
                <a:ea typeface="Noto Sans KR"/>
              </a:rPr>
              <a:t>일부</a:t>
            </a:r>
            <a:r>
              <a:rPr lang="en-US" sz="1350" b="1">
                <a:solidFill>
                  <a:srgbClr val="1C1A12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1C1A12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2230" y="2585513"/>
            <a:ext cx="1452584" cy="4040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웹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881" y="3003780"/>
            <a:ext cx="1924709" cy="4131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개선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2706" y="3428304"/>
            <a:ext cx="2637226" cy="4016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최신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패키지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조작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8928" y="2081649"/>
            <a:ext cx="2446813" cy="4095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0" b="1">
                <a:solidFill>
                  <a:srgbClr val="EEF2F6"/>
                </a:solidFill>
                <a:latin typeface="Noto Sans KR"/>
                <a:ea typeface="Noto Sans KR"/>
              </a:rPr>
              <a:t>② S2b </a:t>
            </a:r>
            <a:r>
              <a:rPr lang="ko-KR" sz="2150" b="1">
                <a:solidFill>
                  <a:srgbClr val="EEF2F6"/>
                </a:solidFill>
                <a:latin typeface="Noto Sans KR"/>
                <a:ea typeface="Noto Sans KR"/>
              </a:rPr>
              <a:t>마지막</a:t>
            </a:r>
            <a:r>
              <a:rPr lang="en-US" sz="215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0" b="1">
                <a:solidFill>
                  <a:srgbClr val="EEF2F6"/>
                </a:solidFill>
                <a:latin typeface="Noto Sans KR"/>
                <a:ea typeface="Noto Sans KR"/>
              </a:rPr>
              <a:t>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3856" y="2146838"/>
            <a:ext cx="567240" cy="26023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6" b="1">
                <a:solidFill>
                  <a:srgbClr val="EEF2F6"/>
                </a:solidFill>
                <a:latin typeface="Noto Sans KR"/>
                <a:ea typeface="Noto Sans KR"/>
              </a:rPr>
              <a:t>미착수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7531" y="2584680"/>
            <a:ext cx="1924716" cy="413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누수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밸브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격리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9436" y="3004517"/>
            <a:ext cx="1456219" cy="405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재고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357" y="3424809"/>
            <a:ext cx="2185665" cy="4107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질량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에너지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유출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532" y="3843178"/>
            <a:ext cx="236228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결과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장애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482" y="4717809"/>
            <a:ext cx="6158148" cy="2567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별도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후속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후보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: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실측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보정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냉각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설비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모델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정교화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·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완료일은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일정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확정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605" y="5594573"/>
            <a:ext cx="1765871" cy="5185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721" b="1">
                <a:solidFill>
                  <a:srgbClr val="3FC1D9"/>
                </a:solidFill>
                <a:latin typeface="Noto Sans KR"/>
                <a:ea typeface="Noto Sans K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1052</Words>
  <Application>Microsoft Office PowerPoint</Application>
  <PresentationFormat>와이드스크린</PresentationFormat>
  <Paragraphs>188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김경준(2022184005)</cp:lastModifiedBy>
  <cp:revision>2</cp:revision>
  <dcterms:created xsi:type="dcterms:W3CDTF">2013-01-27T09:14:16Z</dcterms:created>
  <dcterms:modified xsi:type="dcterms:W3CDTF">2026-10-09T15:27:33Z</dcterms:modified>
  <cp:category/>
</cp:coreProperties>
</file>