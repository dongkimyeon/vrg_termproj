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A3C77E-8465-4395-A8DC-356C62FA19ED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5485D-E4AC-477B-AFA8-A3702BAFC2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264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 대비 세부: 서버 열 = 칩 단위 613 노드의 열용량 기반 과도 모델(C·dT/dt = 발열 − 물로 간 열 − 공기로 간 열). 배관 = 노드 압력 Newton법(펌프 유량 보조 미지수, 200노드 초과는 희소 LU). 공기 = 0.25 m 균일 MAC 격자 투영법, 압력은 멀티그리드 PCG, Chen-Xu 0-방정식 난류(νt = 0.03874·|V|·l). 열교환 = ε-NTU(공조기 코일 ε = 1 − e^(−NTU), CDU는 대향류). 결합은 FCouplingBridge가 열 전달량을 한 번 계산해 양쪽에 같은 값으로 적용, 전역 열수지 잔차 약 1e-14. 실측 보정 전 모델.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b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1792946"/>
            <a:ext cx="2325547" cy="30089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9" b="1">
                <a:solidFill>
                  <a:srgbClr val="3FC1D9"/>
                </a:solidFill>
                <a:latin typeface="Noto Sans KR"/>
                <a:ea typeface="Noto Sans KR"/>
              </a:rPr>
              <a:t>중간발표</a:t>
            </a:r>
            <a:r>
              <a:rPr lang="en-US" sz="1579" b="1">
                <a:solidFill>
                  <a:srgbClr val="3FC1D9"/>
                </a:solidFill>
                <a:latin typeface="Segoe UI"/>
                <a:ea typeface="Segoe UI"/>
              </a:rPr>
              <a:t> ·</a:t>
            </a:r>
            <a:r>
              <a:rPr lang="en-US" sz="1579" b="1">
                <a:solidFill>
                  <a:srgbClr val="3FC1D9"/>
                </a:solidFill>
                <a:latin typeface="Noto Sans KR"/>
                <a:ea typeface="Noto Sans KR"/>
              </a:rPr>
              <a:t> 2026. 10. 07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8827" y="2231675"/>
            <a:ext cx="3385646" cy="7985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191" b="1">
                <a:solidFill>
                  <a:srgbClr val="EEF2F6"/>
                </a:solidFill>
                <a:latin typeface="Noto Sans KR"/>
                <a:ea typeface="Noto Sans KR"/>
              </a:rPr>
              <a:t>AI </a:t>
            </a:r>
            <a:r>
              <a:rPr lang="ko-KR" sz="4191" b="1">
                <a:solidFill>
                  <a:srgbClr val="EEF2F6"/>
                </a:solidFill>
                <a:latin typeface="Noto Sans KR"/>
                <a:ea typeface="Noto Sans KR"/>
              </a:rPr>
              <a:t>데이터센터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9942" y="2847277"/>
            <a:ext cx="3867625" cy="7703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4043" b="1" dirty="0">
                <a:solidFill>
                  <a:srgbClr val="EEF2F6"/>
                </a:solidFill>
                <a:latin typeface="Noto Sans KR"/>
                <a:ea typeface="Noto Sans KR"/>
              </a:rPr>
              <a:t>냉각</a:t>
            </a:r>
            <a:r>
              <a:rPr lang="en-US" sz="4043" b="1" dirty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4043" b="1" dirty="0">
                <a:solidFill>
                  <a:srgbClr val="EEF2F6"/>
                </a:solidFill>
                <a:latin typeface="Noto Sans KR"/>
                <a:ea typeface="Noto Sans KR"/>
              </a:rPr>
              <a:t>디지털</a:t>
            </a:r>
            <a:r>
              <a:rPr lang="en-US" sz="4043" b="1" dirty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4043" b="1" dirty="0">
                <a:solidFill>
                  <a:srgbClr val="EEF2F6"/>
                </a:solidFill>
                <a:latin typeface="Noto Sans KR"/>
                <a:ea typeface="Noto Sans KR"/>
              </a:rPr>
              <a:t>트윈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57" y="3695023"/>
            <a:ext cx="3781445" cy="40960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배치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·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열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·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유동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통합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시뮬레이션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958" y="4510272"/>
            <a:ext cx="773160" cy="29239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534" b="0" dirty="0">
                <a:solidFill>
                  <a:srgbClr val="A9B9CC"/>
                </a:solidFill>
                <a:latin typeface="Noto Sans KR"/>
                <a:ea typeface="Noto Sans KR"/>
              </a:rPr>
              <a:t>[</a:t>
            </a:r>
            <a:r>
              <a:rPr lang="ko-KR" altLang="en-US" sz="1534" dirty="0">
                <a:solidFill>
                  <a:srgbClr val="A9B9CC"/>
                </a:solidFill>
                <a:latin typeface="Noto Sans KR"/>
                <a:ea typeface="Noto Sans KR"/>
              </a:rPr>
              <a:t>가상현실게임</a:t>
            </a:r>
            <a:r>
              <a:rPr lang="en-US" altLang="ko-KR" sz="1534" dirty="0">
                <a:solidFill>
                  <a:srgbClr val="A9B9CC"/>
                </a:solidFill>
                <a:latin typeface="Noto Sans KR"/>
                <a:ea typeface="Noto Sans KR"/>
              </a:rPr>
              <a:t>(01)</a:t>
            </a:r>
            <a:r>
              <a:rPr lang="en-US" sz="1534" b="0" dirty="0">
                <a:solidFill>
                  <a:srgbClr val="A9B9CC"/>
                </a:solidFill>
                <a:latin typeface="Noto Sans KR"/>
                <a:ea typeface="Noto Sans KR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958" y="4816109"/>
            <a:ext cx="1624982" cy="29445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[</a:t>
            </a:r>
            <a:r>
              <a:rPr lang="ko-KR" alt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김동연</a:t>
            </a:r>
            <a:r>
              <a:rPr lang="en-US" altLang="ko-KR" sz="1545" b="0" dirty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alt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김경준</a:t>
            </a:r>
            <a:r>
              <a:rPr lang="en-US" altLang="ko-KR" sz="1545" b="0" dirty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alt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정진영</a:t>
            </a:r>
            <a:r>
              <a:rPr 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]</a:t>
            </a:r>
          </a:p>
        </p:txBody>
      </p:sp>
      <p:pic>
        <p:nvPicPr>
          <p:cNvPr id="13" name="조감 화면" descr="slide1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800" y="1835150"/>
            <a:ext cx="5638800" cy="3187700"/>
          </a:xfrm>
          <a:prstGeom prst="roundRect">
            <a:avLst>
              <a:gd name="adj" fmla="val 2600"/>
            </a:avLst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837406"/>
            <a:ext cx="1009162" cy="2762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문제와</a:t>
            </a:r>
            <a:r>
              <a:rPr lang="en-US" sz="1450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0736" y="1143847"/>
            <a:ext cx="7677851" cy="5848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배치와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냉각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조건을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바꿔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보는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실험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006" y="1897906"/>
            <a:ext cx="10758006" cy="40219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장비의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열은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3FC1D9"/>
                </a:solidFill>
                <a:latin typeface="Noto Sans KR"/>
                <a:ea typeface="Noto Sans KR"/>
              </a:rPr>
              <a:t>냉각수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와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6FA8FF"/>
                </a:solidFill>
                <a:latin typeface="Noto Sans KR"/>
                <a:ea typeface="Noto Sans KR"/>
              </a:rPr>
              <a:t>공기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두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경로로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나뉘어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이동합니다</a:t>
            </a:r>
            <a:r>
              <a:rPr lang="en-US" sz="2111" b="0">
                <a:solidFill>
                  <a:srgbClr val="C9D6E3"/>
                </a:solidFill>
                <a:latin typeface="Noto Sans KR"/>
                <a:ea typeface="Noto Sans KR"/>
              </a:rPr>
              <a:t>.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장비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위치나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냉각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장치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하나만으로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8831" y="2287064"/>
            <a:ext cx="5003305" cy="4040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는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전체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냉각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상태를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설명하기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어렵습니다</a:t>
            </a:r>
            <a:r>
              <a:rPr lang="en-US" sz="2120" b="0">
                <a:solidFill>
                  <a:srgbClr val="C9D6E3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6953" y="3106418"/>
            <a:ext cx="286867" cy="27903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64" b="1">
                <a:solidFill>
                  <a:srgbClr val="3FC1D9"/>
                </a:solidFill>
                <a:latin typeface="Noto Sans KR"/>
                <a:ea typeface="Noto Sans K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382" y="3420812"/>
            <a:ext cx="1182563" cy="40304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211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8253" y="3104738"/>
            <a:ext cx="280782" cy="27184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27" b="1">
                <a:solidFill>
                  <a:srgbClr val="3FC1D9"/>
                </a:solidFill>
                <a:latin typeface="Noto Sans KR"/>
                <a:ea typeface="Noto Sans K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729" y="3420819"/>
            <a:ext cx="1182339" cy="40296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조건</a:t>
            </a:r>
            <a:r>
              <a:rPr lang="en-US" sz="211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9553" y="3108392"/>
            <a:ext cx="275074" cy="26510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91" b="1">
                <a:solidFill>
                  <a:srgbClr val="3FC1D9"/>
                </a:solidFill>
                <a:latin typeface="Noto Sans KR"/>
                <a:ea typeface="Noto Sans K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3681" y="3422596"/>
            <a:ext cx="1178857" cy="40172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결과</a:t>
            </a:r>
            <a:r>
              <a:rPr lang="en-US" sz="2108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0853" y="3107714"/>
            <a:ext cx="279127" cy="2698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16" b="1">
                <a:solidFill>
                  <a:srgbClr val="3FC1D9"/>
                </a:solidFill>
                <a:latin typeface="Noto Sans KR"/>
                <a:ea typeface="Noto Sans K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4028" y="3423622"/>
            <a:ext cx="1710270" cy="40171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시나리오</a:t>
            </a:r>
            <a:r>
              <a:rPr lang="en-US" sz="2108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830" y="4311218"/>
            <a:ext cx="5361101" cy="4064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실측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보정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전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·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교육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·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배치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실험용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프로토타입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353" y="4761150"/>
            <a:ext cx="5928663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공개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사양과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일부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모델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가정을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사용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·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실제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시설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계측값과는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아직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연결하지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않음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837140"/>
            <a:ext cx="1250313" cy="27941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66" b="1">
                <a:solidFill>
                  <a:srgbClr val="3FC1D9"/>
                </a:solidFill>
                <a:latin typeface="Noto Sans KR"/>
                <a:ea typeface="Noto Sans KR"/>
              </a:rPr>
              <a:t>전체</a:t>
            </a:r>
            <a:r>
              <a:rPr lang="en-US" sz="1466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66" b="1">
                <a:solidFill>
                  <a:srgbClr val="3FC1D9"/>
                </a:solidFill>
                <a:latin typeface="Noto Sans KR"/>
                <a:ea typeface="Noto Sans KR"/>
              </a:rPr>
              <a:t>동작</a:t>
            </a:r>
            <a:r>
              <a:rPr lang="en-US" sz="1466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66" b="1">
                <a:solidFill>
                  <a:srgbClr val="3FC1D9"/>
                </a:solidFill>
                <a:latin typeface="Noto Sans KR"/>
                <a:ea typeface="Noto Sans KR"/>
              </a:rPr>
              <a:t>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513" y="1141335"/>
            <a:ext cx="7112416" cy="58575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랙의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열이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냉각수와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공기로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이동하는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38458" y="2883490"/>
            <a:ext cx="319568" cy="40630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2" b="1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2530" y="3331701"/>
            <a:ext cx="1278514" cy="27530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45" b="0">
                <a:solidFill>
                  <a:srgbClr val="E6D3C4"/>
                </a:solidFill>
                <a:latin typeface="Noto Sans KR"/>
                <a:ea typeface="Noto Sans KR"/>
              </a:rPr>
              <a:t>GB200 NVL72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5905" y="3664632"/>
            <a:ext cx="563810" cy="25850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7" b="1">
                <a:solidFill>
                  <a:srgbClr val="F2A65E"/>
                </a:solidFill>
                <a:latin typeface="Noto Sans KR"/>
                <a:ea typeface="Noto Sans KR"/>
              </a:rPr>
              <a:t>발열원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56455" y="1959148"/>
            <a:ext cx="558127" cy="3315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740" b="1">
                <a:solidFill>
                  <a:srgbClr val="EEF2F6"/>
                </a:solidFill>
                <a:latin typeface="Noto Sans KR"/>
                <a:ea typeface="Noto Sans KR"/>
              </a:rPr>
              <a:t>CDU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8482" y="2299974"/>
            <a:ext cx="1158345" cy="25798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4" b="0">
                <a:solidFill>
                  <a:srgbClr val="BFE6EE"/>
                </a:solidFill>
                <a:latin typeface="Noto Sans KR"/>
                <a:ea typeface="Noto Sans KR"/>
              </a:rPr>
              <a:t>냉각수</a:t>
            </a:r>
            <a:r>
              <a:rPr lang="en-US" sz="1354" b="0">
                <a:solidFill>
                  <a:srgbClr val="BFE6EE"/>
                </a:solidFill>
                <a:latin typeface="Segoe UI"/>
                <a:ea typeface="Segoe UI"/>
              </a:rPr>
              <a:t> </a:t>
            </a:r>
            <a:r>
              <a:rPr lang="ko-KR" sz="1354" b="0">
                <a:solidFill>
                  <a:srgbClr val="BFE6EE"/>
                </a:solidFill>
                <a:latin typeface="Noto Sans KR"/>
                <a:ea typeface="Noto Sans KR"/>
              </a:rPr>
              <a:t>열</a:t>
            </a:r>
            <a:r>
              <a:rPr lang="en-US" sz="1354" b="0">
                <a:solidFill>
                  <a:srgbClr val="BFE6EE"/>
                </a:solidFill>
                <a:latin typeface="Segoe UI"/>
                <a:ea typeface="Segoe UI"/>
              </a:rPr>
              <a:t> </a:t>
            </a:r>
            <a:r>
              <a:rPr lang="ko-KR" sz="1354" b="0">
                <a:solidFill>
                  <a:srgbClr val="BFE6EE"/>
                </a:solidFill>
                <a:latin typeface="Noto Sans KR"/>
                <a:ea typeface="Noto Sans KR"/>
              </a:rPr>
              <a:t>교환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7652" y="1961290"/>
            <a:ext cx="707565" cy="33094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7" b="1">
                <a:solidFill>
                  <a:srgbClr val="EEF2F6"/>
                </a:solidFill>
                <a:latin typeface="Noto Sans KR"/>
                <a:ea typeface="Noto Sans KR"/>
              </a:rPr>
              <a:t>시설수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4305" y="2297350"/>
            <a:ext cx="943068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BFE6EE"/>
                </a:solidFill>
                <a:latin typeface="Noto Sans KR"/>
                <a:ea typeface="Noto Sans KR"/>
              </a:rPr>
              <a:t>열을</a:t>
            </a:r>
            <a:r>
              <a:rPr lang="en-US" sz="1350" b="0">
                <a:solidFill>
                  <a:srgbClr val="BFE6EE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BFE6EE"/>
                </a:solidFill>
                <a:latin typeface="Noto Sans KR"/>
                <a:ea typeface="Noto Sans KR"/>
              </a:rPr>
              <a:t>외부로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5331" y="3103108"/>
            <a:ext cx="757627" cy="32929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8" b="1">
                <a:solidFill>
                  <a:srgbClr val="EEF2F6"/>
                </a:solidFill>
                <a:latin typeface="Noto Sans KR"/>
                <a:ea typeface="Noto Sans KR"/>
              </a:rPr>
              <a:t>방</a:t>
            </a:r>
            <a:r>
              <a:rPr lang="en-US" sz="1728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28" b="1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128" y="3439299"/>
            <a:ext cx="1048137" cy="26864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10" b="0">
                <a:solidFill>
                  <a:srgbClr val="C6DAF7"/>
                </a:solidFill>
                <a:latin typeface="Noto Sans KR"/>
                <a:ea typeface="Noto Sans KR"/>
              </a:rPr>
              <a:t>온도</a:t>
            </a:r>
            <a:r>
              <a:rPr lang="en-US" sz="1410" b="0">
                <a:solidFill>
                  <a:srgbClr val="C6DAF7"/>
                </a:solidFill>
                <a:latin typeface="Segoe UI"/>
                <a:ea typeface="Segoe UI"/>
              </a:rPr>
              <a:t>·</a:t>
            </a:r>
            <a:r>
              <a:rPr lang="ko-KR" sz="1410" b="0">
                <a:solidFill>
                  <a:srgbClr val="C6DAF7"/>
                </a:solidFill>
                <a:latin typeface="Noto Sans KR"/>
                <a:ea typeface="Noto Sans KR"/>
              </a:rPr>
              <a:t>속도장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100377"/>
            <a:ext cx="730551" cy="3440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806" b="1">
                <a:solidFill>
                  <a:srgbClr val="EEF2F6"/>
                </a:solidFill>
                <a:latin typeface="Noto Sans KR"/>
                <a:ea typeface="Noto Sans KR"/>
              </a:rPr>
              <a:t>CRAH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703" y="3439754"/>
            <a:ext cx="1246859" cy="26368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84" b="0">
                <a:solidFill>
                  <a:srgbClr val="C6DAF7"/>
                </a:solidFill>
                <a:latin typeface="Noto Sans KR"/>
                <a:ea typeface="Noto Sans KR"/>
              </a:rPr>
              <a:t>공기</a:t>
            </a:r>
            <a:r>
              <a:rPr lang="en-US" sz="1384" b="0">
                <a:solidFill>
                  <a:srgbClr val="C6DAF7"/>
                </a:solidFill>
                <a:latin typeface="Segoe UI"/>
                <a:ea typeface="Segoe UI"/>
              </a:rPr>
              <a:t> </a:t>
            </a:r>
            <a:r>
              <a:rPr lang="ko-KR" sz="1384" b="0">
                <a:solidFill>
                  <a:srgbClr val="C6DAF7"/>
                </a:solidFill>
                <a:latin typeface="Noto Sans KR"/>
                <a:ea typeface="Noto Sans KR"/>
              </a:rPr>
              <a:t>냉각</a:t>
            </a:r>
            <a:r>
              <a:rPr lang="en-US" sz="1384" b="0">
                <a:solidFill>
                  <a:srgbClr val="C6DAF7"/>
                </a:solidFill>
                <a:latin typeface="Segoe UI"/>
                <a:ea typeface="Segoe UI"/>
              </a:rPr>
              <a:t>·</a:t>
            </a:r>
            <a:r>
              <a:rPr lang="ko-KR" sz="1384" b="0">
                <a:solidFill>
                  <a:srgbClr val="C6DAF7"/>
                </a:solidFill>
                <a:latin typeface="Noto Sans KR"/>
                <a:ea typeface="Noto Sans KR"/>
              </a:rPr>
              <a:t>순환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2953" y="4244263"/>
            <a:ext cx="715022" cy="33470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56" b="1">
                <a:solidFill>
                  <a:srgbClr val="EEF2F6"/>
                </a:solidFill>
                <a:latin typeface="Noto Sans KR"/>
                <a:ea typeface="Noto Sans KR"/>
              </a:rPr>
              <a:t>스파인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0707" y="4583283"/>
            <a:ext cx="1116210" cy="25790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3" b="0">
                <a:solidFill>
                  <a:srgbClr val="DCD1F3"/>
                </a:solidFill>
                <a:latin typeface="Noto Sans KR"/>
                <a:ea typeface="Noto Sans KR"/>
              </a:rPr>
              <a:t>네트워크</a:t>
            </a:r>
            <a:r>
              <a:rPr lang="en-US" sz="1353" b="0">
                <a:solidFill>
                  <a:srgbClr val="DCD1F3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DCD1F3"/>
                </a:solidFill>
                <a:latin typeface="Noto Sans KR"/>
                <a:ea typeface="Noto Sans KR"/>
              </a:rPr>
              <a:t>장비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4981" y="1904612"/>
            <a:ext cx="563654" cy="2584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6" b="1">
                <a:solidFill>
                  <a:srgbClr val="3FC1D9"/>
                </a:solidFill>
                <a:latin typeface="Noto Sans KR"/>
                <a:ea typeface="Noto Sans KR"/>
              </a:rPr>
              <a:t>냉각수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6102" y="3051259"/>
            <a:ext cx="394740" cy="25997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4" b="1">
                <a:solidFill>
                  <a:srgbClr val="6FA8FF"/>
                </a:solidFill>
                <a:latin typeface="Noto Sans KR"/>
                <a:ea typeface="Noto Sans KR"/>
              </a:rPr>
              <a:t>공기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4505" y="4191675"/>
            <a:ext cx="563969" cy="25858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7" b="1">
                <a:solidFill>
                  <a:srgbClr val="B9A3E8"/>
                </a:solidFill>
                <a:latin typeface="Noto Sans KR"/>
                <a:ea typeface="Noto Sans KR"/>
              </a:rPr>
              <a:t>데이터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3505" y="1992679"/>
            <a:ext cx="599819" cy="2557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2" b="0">
                <a:solidFill>
                  <a:srgbClr val="EEF2F6"/>
                </a:solidFill>
                <a:latin typeface="Noto Sans KR"/>
                <a:ea typeface="Noto Sans KR"/>
              </a:rPr>
              <a:t>열</a:t>
            </a:r>
            <a:r>
              <a:rPr lang="en-US" sz="134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42" b="0">
                <a:solidFill>
                  <a:srgbClr val="EEF2F6"/>
                </a:solidFill>
                <a:latin typeface="Noto Sans KR"/>
                <a:ea typeface="Noto Sans KR"/>
              </a:rPr>
              <a:t>흐름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0806" y="2500588"/>
            <a:ext cx="941626" cy="25675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EEF2F6"/>
                </a:solidFill>
                <a:latin typeface="Noto Sans KR"/>
                <a:ea typeface="Noto Sans KR"/>
              </a:rPr>
              <a:t>데이터</a:t>
            </a:r>
            <a:r>
              <a:rPr lang="en-US" sz="134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EEF2F6"/>
                </a:solidFill>
                <a:latin typeface="Noto Sans KR"/>
                <a:ea typeface="Noto Sans KR"/>
              </a:rPr>
              <a:t>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6330" y="5449093"/>
            <a:ext cx="772947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135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EEF2F6"/>
                </a:solidFill>
                <a:latin typeface="Noto Sans KR"/>
                <a:ea typeface="Noto Sans KR"/>
              </a:rPr>
              <a:t>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6128" y="5446952"/>
            <a:ext cx="913620" cy="24613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292" b="0">
                <a:solidFill>
                  <a:srgbClr val="A9B9CC"/>
                </a:solidFill>
                <a:latin typeface="Noto Sans KR"/>
                <a:ea typeface="Noto Sans KR"/>
              </a:rPr>
              <a:t>— Enter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9752" y="5449033"/>
            <a:ext cx="1286782" cy="2578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3" b="1">
                <a:solidFill>
                  <a:srgbClr val="EEF2F6"/>
                </a:solidFill>
                <a:latin typeface="Noto Sans KR"/>
                <a:ea typeface="Noto Sans KR"/>
              </a:rPr>
              <a:t>시뮬레이션</a:t>
            </a:r>
            <a:r>
              <a:rPr lang="en-US" sz="135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53" b="1">
                <a:solidFill>
                  <a:srgbClr val="EEF2F6"/>
                </a:solidFill>
                <a:latin typeface="Noto Sans KR"/>
                <a:ea typeface="Noto Sans KR"/>
              </a:rPr>
              <a:t>모드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2603" y="5446950"/>
            <a:ext cx="3321357" cy="25717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모든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모델이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하나의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시뮬레이션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시간을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공유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812800" y="812800"/>
            <a:ext cx="762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계산의</a:t>
            </a:r>
            <a:r>
              <a:rPr lang="en-US" sz="1450" b="1">
                <a:solidFill>
                  <a:srgbClr val="3FC1D9"/>
                </a:solidFill>
                <a:latin typeface="Noto Sans KR"/>
                <a:ea typeface="Noto Sans KR"/>
              </a:rPr>
              <a:t> </a:t>
            </a:r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원리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812800" y="1092200"/>
            <a:ext cx="106680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sz="3000" b="1">
                <a:solidFill>
                  <a:srgbClr val="EEF2F6"/>
                </a:solidFill>
                <a:latin typeface="Noto Sans KR"/>
                <a:ea typeface="Noto Sans KR"/>
              </a:rPr>
              <a:t>어떤</a:t>
            </a:r>
            <a:r>
              <a:rPr lang="en-US" sz="300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3000" b="1">
                <a:solidFill>
                  <a:srgbClr val="EEF2F6"/>
                </a:solidFill>
                <a:latin typeface="Noto Sans KR"/>
                <a:ea typeface="Noto Sans KR"/>
              </a:rPr>
              <a:t>물리</a:t>
            </a:r>
            <a:r>
              <a:rPr lang="en-US" sz="300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3000" b="1">
                <a:solidFill>
                  <a:srgbClr val="EEF2F6"/>
                </a:solidFill>
                <a:latin typeface="Noto Sans KR"/>
                <a:ea typeface="Noto Sans KR"/>
              </a:rPr>
              <a:t>모델로</a:t>
            </a:r>
            <a:r>
              <a:rPr lang="en-US" sz="300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3000" b="1">
                <a:solidFill>
                  <a:srgbClr val="EEF2F6"/>
                </a:solidFill>
                <a:latin typeface="Noto Sans KR"/>
                <a:ea typeface="Noto Sans KR"/>
              </a:rPr>
              <a:t>만들었나</a:t>
            </a:r>
          </a:p>
        </p:txBody>
      </p:sp>
      <p:sp>
        <p:nvSpPr>
          <p:cNvPr id="4" name="서버의 열"/>
          <p:cNvSpPr/>
          <p:nvPr/>
        </p:nvSpPr>
        <p:spPr>
          <a:xfrm>
            <a:off x="812800" y="1879600"/>
            <a:ext cx="10566400" cy="838200"/>
          </a:xfrm>
          <a:prstGeom prst="roundRect">
            <a:avLst>
              <a:gd name="adj" fmla="val 12000"/>
            </a:avLst>
          </a:prstGeom>
          <a:solidFill>
            <a:srgbClr val="16263D"/>
          </a:solidFill>
          <a:ln w="12700">
            <a:solidFill>
              <a:srgbClr val="2A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12800" y="1879600"/>
            <a:ext cx="1905000" cy="838200"/>
          </a:xfrm>
          <a:prstGeom prst="roundRect">
            <a:avLst>
              <a:gd name="adj" fmla="val 12000"/>
            </a:avLst>
          </a:prstGeom>
          <a:solidFill>
            <a:srgbClr val="1B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12800" y="1879600"/>
            <a:ext cx="1905000" cy="838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sz="1650" b="1">
                <a:solidFill>
                  <a:srgbClr val="F2A65E"/>
                </a:solidFill>
                <a:latin typeface="Noto Sans KR"/>
                <a:ea typeface="Noto Sans KR"/>
              </a:rPr>
              <a:t>서버의</a:t>
            </a:r>
            <a:r>
              <a:rPr lang="en-US" sz="1650" b="1">
                <a:solidFill>
                  <a:srgbClr val="F2A65E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F2A65E"/>
                </a:solidFill>
                <a:latin typeface="Noto Sans KR"/>
                <a:ea typeface="Noto Sans KR"/>
              </a:rPr>
              <a:t>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97200" y="2032000"/>
            <a:ext cx="8128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다절점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열용량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7200" y="2362200"/>
            <a:ext cx="812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랙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1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대를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칩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단위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613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개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부분으로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나눠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시간에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따라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데워지고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식는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과정을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계산</a:t>
            </a:r>
          </a:p>
        </p:txBody>
      </p:sp>
      <p:sp>
        <p:nvSpPr>
          <p:cNvPr id="9" name="배관의 물"/>
          <p:cNvSpPr/>
          <p:nvPr/>
        </p:nvSpPr>
        <p:spPr>
          <a:xfrm>
            <a:off x="812800" y="2844800"/>
            <a:ext cx="10566400" cy="838200"/>
          </a:xfrm>
          <a:prstGeom prst="roundRect">
            <a:avLst>
              <a:gd name="adj" fmla="val 12000"/>
            </a:avLst>
          </a:prstGeom>
          <a:solidFill>
            <a:srgbClr val="16263D"/>
          </a:solidFill>
          <a:ln w="12700">
            <a:solidFill>
              <a:srgbClr val="2A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12800" y="2844800"/>
            <a:ext cx="1905000" cy="838200"/>
          </a:xfrm>
          <a:prstGeom prst="roundRect">
            <a:avLst>
              <a:gd name="adj" fmla="val 12000"/>
            </a:avLst>
          </a:prstGeom>
          <a:solidFill>
            <a:srgbClr val="1B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2800" y="2844800"/>
            <a:ext cx="1905000" cy="838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sz="1650" b="1">
                <a:solidFill>
                  <a:srgbClr val="3FC1D9"/>
                </a:solidFill>
                <a:latin typeface="Noto Sans KR"/>
                <a:ea typeface="Noto Sans KR"/>
              </a:rPr>
              <a:t>배관의</a:t>
            </a:r>
            <a:r>
              <a:rPr lang="en-US" sz="1650" b="1">
                <a:solidFill>
                  <a:srgbClr val="3FC1D9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3FC1D9"/>
                </a:solidFill>
                <a:latin typeface="Noto Sans KR"/>
                <a:ea typeface="Noto Sans KR"/>
              </a:rPr>
              <a:t>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200" y="2997200"/>
            <a:ext cx="8128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배관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네트워크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수력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7200" y="3327400"/>
            <a:ext cx="812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펌프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성능과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배관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저항이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맞는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지점을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Newton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법으로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찾아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랙마다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흐르는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물의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양을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계산</a:t>
            </a:r>
          </a:p>
        </p:txBody>
      </p:sp>
      <p:sp>
        <p:nvSpPr>
          <p:cNvPr id="14" name="방 안의 공기"/>
          <p:cNvSpPr/>
          <p:nvPr/>
        </p:nvSpPr>
        <p:spPr>
          <a:xfrm>
            <a:off x="812800" y="3810000"/>
            <a:ext cx="10566400" cy="838200"/>
          </a:xfrm>
          <a:prstGeom prst="roundRect">
            <a:avLst>
              <a:gd name="adj" fmla="val 12000"/>
            </a:avLst>
          </a:prstGeom>
          <a:solidFill>
            <a:srgbClr val="16263D"/>
          </a:solidFill>
          <a:ln w="12700">
            <a:solidFill>
              <a:srgbClr val="2A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12800" y="3810000"/>
            <a:ext cx="1905000" cy="838200"/>
          </a:xfrm>
          <a:prstGeom prst="roundRect">
            <a:avLst>
              <a:gd name="adj" fmla="val 12000"/>
            </a:avLst>
          </a:prstGeom>
          <a:solidFill>
            <a:srgbClr val="1B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2800" y="3810000"/>
            <a:ext cx="1905000" cy="838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sz="1650" b="1">
                <a:solidFill>
                  <a:srgbClr val="6FA8FF"/>
                </a:solidFill>
                <a:latin typeface="Noto Sans KR"/>
                <a:ea typeface="Noto Sans KR"/>
              </a:rPr>
              <a:t>방</a:t>
            </a:r>
            <a:r>
              <a:rPr lang="en-US" sz="1650" b="1">
                <a:solidFill>
                  <a:srgbClr val="6FA8FF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6FA8FF"/>
                </a:solidFill>
                <a:latin typeface="Noto Sans KR"/>
                <a:ea typeface="Noto Sans KR"/>
              </a:rPr>
              <a:t>안의</a:t>
            </a:r>
            <a:r>
              <a:rPr lang="en-US" sz="1650" b="1">
                <a:solidFill>
                  <a:srgbClr val="6FA8FF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6FA8FF"/>
                </a:solidFill>
                <a:latin typeface="Noto Sans KR"/>
                <a:ea typeface="Noto Sans KR"/>
              </a:rPr>
              <a:t>공기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200" y="3962400"/>
            <a:ext cx="8128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격자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기반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유체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계산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(CFD) +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난류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7200" y="4292600"/>
            <a:ext cx="812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방을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25 cm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칸으로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나눠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200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바람을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계산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(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부력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서버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팬</a:t>
            </a:r>
            <a:r>
              <a:rPr lang="en-US" sz="1200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공조기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바람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, Chen-Xu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난류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19" name="냉각 장치"/>
          <p:cNvSpPr/>
          <p:nvPr/>
        </p:nvSpPr>
        <p:spPr>
          <a:xfrm>
            <a:off x="812800" y="4775200"/>
            <a:ext cx="10566400" cy="838200"/>
          </a:xfrm>
          <a:prstGeom prst="roundRect">
            <a:avLst>
              <a:gd name="adj" fmla="val 12000"/>
            </a:avLst>
          </a:prstGeom>
          <a:solidFill>
            <a:srgbClr val="16263D"/>
          </a:solidFill>
          <a:ln w="12700">
            <a:solidFill>
              <a:srgbClr val="2A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12800" y="4775200"/>
            <a:ext cx="1905000" cy="838200"/>
          </a:xfrm>
          <a:prstGeom prst="roundRect">
            <a:avLst>
              <a:gd name="adj" fmla="val 12000"/>
            </a:avLst>
          </a:prstGeom>
          <a:solidFill>
            <a:srgbClr val="1B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800" y="4775200"/>
            <a:ext cx="1905000" cy="838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sz="1650" b="1">
                <a:solidFill>
                  <a:srgbClr val="62D2A2"/>
                </a:solidFill>
                <a:latin typeface="Noto Sans KR"/>
                <a:ea typeface="Noto Sans KR"/>
              </a:rPr>
              <a:t>냉각</a:t>
            </a:r>
            <a:r>
              <a:rPr lang="en-US" sz="1650" b="1">
                <a:solidFill>
                  <a:srgbClr val="62D2A2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62D2A2"/>
                </a:solidFill>
                <a:latin typeface="Noto Sans KR"/>
                <a:ea typeface="Noto Sans KR"/>
              </a:rPr>
              <a:t>장치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7200" y="4927600"/>
            <a:ext cx="8128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ε-NTU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열교환기</a:t>
            </a:r>
            <a:r>
              <a:rPr lang="en-US" sz="1650" b="1">
                <a:solidFill>
                  <a:srgbClr val="EEF2F6"/>
                </a:solidFill>
                <a:latin typeface="Noto Sans KR"/>
                <a:ea typeface="Noto Sans KR"/>
              </a:rPr>
              <a:t> </a:t>
            </a:r>
            <a:r>
              <a:rPr lang="ko-KR" sz="1650" b="1">
                <a:solidFill>
                  <a:srgbClr val="EEF2F6"/>
                </a:solidFill>
                <a:latin typeface="Noto Sans KR"/>
                <a:ea typeface="Noto Sans KR"/>
              </a:rPr>
              <a:t>모델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7200" y="5257800"/>
            <a:ext cx="812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CDU(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물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→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건물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냉각수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)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와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공조기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(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공기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→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냉수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)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가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넘기는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열을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계산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크기를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키우면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효율이</a:t>
            </a:r>
            <a:r>
              <a:rPr lang="en-US" sz="1200" b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sz="1200" b="0">
                <a:solidFill>
                  <a:srgbClr val="A9B9CC"/>
                </a:solidFill>
                <a:latin typeface="Noto Sans KR"/>
                <a:ea typeface="Noto Sans KR"/>
              </a:rPr>
              <a:t>포화</a:t>
            </a:r>
          </a:p>
        </p:txBody>
      </p:sp>
      <p:sp>
        <p:nvSpPr>
          <p:cNvPr id="24" name="결합"/>
          <p:cNvSpPr/>
          <p:nvPr/>
        </p:nvSpPr>
        <p:spPr>
          <a:xfrm>
            <a:off x="812800" y="5816600"/>
            <a:ext cx="10566400" cy="584200"/>
          </a:xfrm>
          <a:prstGeom prst="roundRect">
            <a:avLst>
              <a:gd name="adj" fmla="val 20000"/>
            </a:avLst>
          </a:prstGeom>
          <a:solidFill>
            <a:srgbClr val="13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6800" y="5816600"/>
            <a:ext cx="101600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네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 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모델은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 </a:t>
            </a:r>
            <a:r>
              <a:rPr lang="en-US" sz="1400" b="1">
                <a:solidFill>
                  <a:srgbClr val="F2A65E"/>
                </a:solidFill>
                <a:latin typeface="Noto Sans KR"/>
                <a:ea typeface="Noto Sans KR"/>
              </a:rPr>
              <a:t>0.02</a:t>
            </a:r>
            <a:r>
              <a:rPr lang="ko-KR" sz="1400" b="1">
                <a:solidFill>
                  <a:srgbClr val="F2A65E"/>
                </a:solidFill>
                <a:latin typeface="Noto Sans KR"/>
                <a:ea typeface="Noto Sans KR"/>
              </a:rPr>
              <a:t>초마다</a:t>
            </a:r>
            <a:r>
              <a:rPr lang="en-US" sz="1400" b="1">
                <a:solidFill>
                  <a:srgbClr val="F2A65E"/>
                </a:solidFill>
                <a:latin typeface="Noto Sans KR"/>
                <a:ea typeface="Noto Sans KR"/>
              </a:rPr>
              <a:t> </a:t>
            </a:r>
            <a:r>
              <a:rPr lang="ko-KR" sz="1400" b="1">
                <a:solidFill>
                  <a:srgbClr val="F2A65E"/>
                </a:solidFill>
                <a:latin typeface="Noto Sans KR"/>
                <a:ea typeface="Noto Sans KR"/>
              </a:rPr>
              <a:t>같은</a:t>
            </a:r>
            <a:r>
              <a:rPr lang="en-US" sz="1400" b="1">
                <a:solidFill>
                  <a:srgbClr val="F2A65E"/>
                </a:solidFill>
                <a:latin typeface="Noto Sans KR"/>
                <a:ea typeface="Noto Sans KR"/>
              </a:rPr>
              <a:t> </a:t>
            </a:r>
            <a:r>
              <a:rPr lang="ko-KR" sz="1400" b="1">
                <a:solidFill>
                  <a:srgbClr val="F2A65E"/>
                </a:solidFill>
                <a:latin typeface="Noto Sans KR"/>
                <a:ea typeface="Noto Sans KR"/>
              </a:rPr>
              <a:t>시계로</a:t>
            </a:r>
            <a:r>
              <a:rPr lang="en-US" sz="1400" b="1">
                <a:solidFill>
                  <a:srgbClr val="F2A65E"/>
                </a:solidFill>
                <a:latin typeface="Noto Sans KR"/>
                <a:ea typeface="Noto Sans KR"/>
              </a:rPr>
              <a:t> </a:t>
            </a:r>
            <a:r>
              <a:rPr lang="ko-KR" sz="1400" b="1">
                <a:solidFill>
                  <a:srgbClr val="F2A65E"/>
                </a:solidFill>
                <a:latin typeface="Noto Sans KR"/>
                <a:ea typeface="Noto Sans KR"/>
              </a:rPr>
              <a:t>함께</a:t>
            </a:r>
            <a:r>
              <a:rPr lang="en-US" sz="1400" b="1">
                <a:solidFill>
                  <a:srgbClr val="F2A65E"/>
                </a:solidFill>
                <a:latin typeface="Noto Sans KR"/>
                <a:ea typeface="Noto Sans KR"/>
              </a:rPr>
              <a:t> </a:t>
            </a:r>
            <a:r>
              <a:rPr lang="ko-KR" sz="1400" b="1">
                <a:solidFill>
                  <a:srgbClr val="F2A65E"/>
                </a:solidFill>
                <a:latin typeface="Noto Sans KR"/>
                <a:ea typeface="Noto Sans KR"/>
              </a:rPr>
              <a:t>계산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되고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, 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들어온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 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열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 = 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나간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 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열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 + 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쌓인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 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열이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 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맞는지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 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계속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 </a:t>
            </a:r>
            <a:r>
              <a:rPr lang="ko-KR" sz="1400" b="0">
                <a:solidFill>
                  <a:srgbClr val="C9D6E3"/>
                </a:solidFill>
                <a:latin typeface="Noto Sans KR"/>
                <a:ea typeface="Noto Sans KR"/>
              </a:rPr>
              <a:t>확인합니다</a:t>
            </a:r>
            <a:r>
              <a:rPr lang="en-US" sz="1400" b="0">
                <a:solidFill>
                  <a:srgbClr val="C9D6E3"/>
                </a:solidFill>
                <a:latin typeface="Noto Sans KR"/>
                <a:ea typeface="Noto Sans KR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355" y="1140101"/>
            <a:ext cx="2785790" cy="6005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52" b="1">
                <a:solidFill>
                  <a:srgbClr val="EEF2F6"/>
                </a:solidFill>
                <a:latin typeface="Noto Sans KR"/>
                <a:ea typeface="Noto Sans KR"/>
              </a:rPr>
              <a:t>장비</a:t>
            </a:r>
            <a:r>
              <a:rPr lang="en-US" sz="315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52" b="1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3152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52" b="1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2831" y="1967536"/>
            <a:ext cx="3560129" cy="42614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추가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이동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회전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복제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삭제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4736" y="2420582"/>
            <a:ext cx="2640707" cy="4021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다중</a:t>
            </a:r>
            <a:r>
              <a:rPr lang="en-US" sz="2111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선택과</a:t>
            </a:r>
            <a:r>
              <a:rPr lang="en-US" sz="2111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그룹</a:t>
            </a:r>
            <a:r>
              <a:rPr lang="en-US" sz="2111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2831" y="2866779"/>
            <a:ext cx="1924716" cy="4131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스냅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겹침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방지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911" y="3318284"/>
            <a:ext cx="1727414" cy="40062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03" b="0">
                <a:solidFill>
                  <a:srgbClr val="EEF2F6"/>
                </a:solidFill>
                <a:latin typeface="Noto Sans KR"/>
                <a:ea typeface="Noto Sans KR"/>
              </a:rPr>
              <a:t>Undo / Redo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006" y="3936837"/>
            <a:ext cx="4665453" cy="25585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배치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결과가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이후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계산의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장비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위치와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연결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관계로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사용됩니다</a:t>
            </a:r>
            <a:r>
              <a:rPr lang="en-US" sz="1343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0831" y="6139509"/>
            <a:ext cx="3472745" cy="2527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랙</a:t>
            </a:r>
            <a:r>
              <a:rPr lang="en-US" sz="1326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이동</a:t>
            </a:r>
            <a:r>
              <a:rPr lang="en-US" sz="1326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그룹</a:t>
            </a:r>
            <a:r>
              <a:rPr lang="en-US" sz="1326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이동</a:t>
            </a:r>
            <a:r>
              <a:rPr lang="en-US" sz="1326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복제</a:t>
            </a:r>
            <a:r>
              <a:rPr lang="en-US" sz="1326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미리보기</a:t>
            </a:r>
            <a:r>
              <a:rPr lang="en-US" sz="1326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복원</a:t>
            </a:r>
          </a:p>
        </p:txBody>
      </p:sp>
      <p:pic>
        <p:nvPicPr>
          <p:cNvPr id="16" name="실제 화면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550" y="1917700"/>
            <a:ext cx="5575300" cy="3130550"/>
          </a:xfrm>
          <a:prstGeom prst="roundRect">
            <a:avLst>
              <a:gd name="adj" fmla="val 2600"/>
            </a:avLst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8142"/>
            <a:ext cx="1672282" cy="2997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3" b="1">
                <a:solidFill>
                  <a:srgbClr val="3FC1D9"/>
                </a:solidFill>
                <a:latin typeface="Noto Sans KR"/>
                <a:ea typeface="Noto Sans KR"/>
              </a:rPr>
              <a:t>기능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037" y="1134191"/>
            <a:ext cx="3471764" cy="60671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방</a:t>
            </a:r>
            <a:r>
              <a:rPr lang="en-US" sz="318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천장</a:t>
            </a:r>
            <a:r>
              <a:rPr lang="en-US" sz="318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구멍</a:t>
            </a:r>
            <a:r>
              <a:rPr lang="en-US" sz="318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705" y="1969473"/>
            <a:ext cx="2303480" cy="4050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자동</a:t>
            </a:r>
            <a:r>
              <a:rPr lang="en-US" sz="2126" b="0">
                <a:solidFill>
                  <a:srgbClr val="EEF2F6"/>
                </a:solidFill>
                <a:latin typeface="Noto Sans KR"/>
                <a:ea typeface="Noto Sans KR"/>
              </a:rPr>
              <a:t> /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수동</a:t>
            </a:r>
            <a:r>
              <a:rPr lang="en-US" sz="212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방</a:t>
            </a:r>
            <a:r>
              <a:rPr lang="en-US" sz="212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범위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356" y="2420778"/>
            <a:ext cx="1768214" cy="4000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천장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높이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2831" y="2865047"/>
            <a:ext cx="2974699" cy="4025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부분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천장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판과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내부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개방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435" y="3316012"/>
            <a:ext cx="3296066" cy="4013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다음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계산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진입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때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격자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반영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4705" y="4202387"/>
            <a:ext cx="2265896" cy="25677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endParaRPr lang="en-US" sz="1347" b="0" dirty="0">
              <a:solidFill>
                <a:srgbClr val="A9B9CC"/>
              </a:solidFill>
              <a:latin typeface="Noto Sans KR"/>
              <a:ea typeface="Noto Sans K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7656" y="6139186"/>
            <a:ext cx="3043076" cy="25624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방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크기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높이</a:t>
            </a:r>
            <a:r>
              <a:rPr lang="en-US" sz="1345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판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구멍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이동</a:t>
            </a:r>
            <a:r>
              <a:rPr lang="en-US" sz="1345" b="0">
                <a:solidFill>
                  <a:srgbClr val="C9D6E3"/>
                </a:solidFill>
                <a:latin typeface="Noto Sans KR"/>
                <a:ea typeface="Noto Sans KR"/>
              </a:rPr>
              <a:t> → Undo</a:t>
            </a:r>
          </a:p>
        </p:txBody>
      </p:sp>
      <p:pic>
        <p:nvPicPr>
          <p:cNvPr id="17" name="실제 화면" descr="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550" y="1917700"/>
            <a:ext cx="5575300" cy="3130550"/>
          </a:xfrm>
          <a:prstGeom prst="roundRect">
            <a:avLst>
              <a:gd name="adj" fmla="val 2600"/>
            </a:avLst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0736" y="1140728"/>
            <a:ext cx="4416819" cy="59304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배관</a:t>
            </a:r>
            <a:r>
              <a:rPr lang="en-US" sz="3113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케이블</a:t>
            </a:r>
            <a:r>
              <a:rPr lang="en-US" sz="3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연결과</a:t>
            </a:r>
            <a:r>
              <a:rPr lang="en-US" sz="3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9536" y="1943552"/>
            <a:ext cx="2573540" cy="41070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5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55" b="0">
                <a:solidFill>
                  <a:srgbClr val="EEF2F6"/>
                </a:solidFill>
                <a:latin typeface="Noto Sans KR"/>
                <a:ea typeface="Noto Sans KR"/>
              </a:rPr>
              <a:t>–CDU </a:t>
            </a:r>
            <a:r>
              <a:rPr lang="ko-KR" sz="2155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215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5" b="0">
                <a:solidFill>
                  <a:srgbClr val="EEF2F6"/>
                </a:solidFill>
                <a:latin typeface="Noto Sans KR"/>
                <a:ea typeface="Noto Sans KR"/>
              </a:rPr>
              <a:t>배관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9536" y="2518155"/>
            <a:ext cx="3025458" cy="4062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32" b="0">
                <a:solidFill>
                  <a:srgbClr val="EEF2F6"/>
                </a:solidFill>
                <a:latin typeface="Noto Sans KR"/>
                <a:ea typeface="Noto Sans KR"/>
              </a:rPr>
              <a:t>–</a:t>
            </a:r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스파인</a:t>
            </a:r>
            <a:r>
              <a:rPr lang="en-US" sz="213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데이터</a:t>
            </a:r>
            <a:r>
              <a:rPr lang="en-US" sz="213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케이블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9060" y="3081048"/>
            <a:ext cx="2966654" cy="4014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변경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시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경로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재구성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7631" y="3651415"/>
            <a:ext cx="3531322" cy="4138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포트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점유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미연결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간섭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진단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0831" y="6137635"/>
            <a:ext cx="3990567" cy="25532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랙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후면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연결</a:t>
            </a:r>
            <a:r>
              <a:rPr lang="en-US" sz="1340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패치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맵</a:t>
            </a:r>
            <a:r>
              <a:rPr lang="en-US" sz="1340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케이블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포트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선택</a:t>
            </a:r>
            <a:r>
              <a:rPr lang="en-US" sz="1340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닫기</a:t>
            </a:r>
          </a:p>
        </p:txBody>
      </p:sp>
      <p:pic>
        <p:nvPicPr>
          <p:cNvPr id="17" name="실제 화면" descr="p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550" y="1917700"/>
            <a:ext cx="5575300" cy="3130550"/>
          </a:xfrm>
          <a:prstGeom prst="roundRect">
            <a:avLst>
              <a:gd name="adj" fmla="val 2600"/>
            </a:avLst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307" y="1142705"/>
            <a:ext cx="5112669" cy="5992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부하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통합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반응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081" y="2139047"/>
            <a:ext cx="585316" cy="40401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1">
                <a:solidFill>
                  <a:srgbClr val="D6E1EC"/>
                </a:solidFill>
                <a:latin typeface="Noto Sans KR"/>
                <a:ea typeface="Noto Sans KR"/>
              </a:rPr>
              <a:t>입력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430" y="2569992"/>
            <a:ext cx="1198844" cy="33089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부하율</a:t>
            </a:r>
            <a:r>
              <a:rPr lang="en-US" sz="17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7430" y="2970048"/>
            <a:ext cx="1198619" cy="33083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펌프</a:t>
            </a:r>
            <a:r>
              <a:rPr lang="en-US" sz="17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회전수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05" y="3363880"/>
            <a:ext cx="1464900" cy="32939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9" b="0">
                <a:solidFill>
                  <a:srgbClr val="EEF2F6"/>
                </a:solidFill>
                <a:latin typeface="Noto Sans KR"/>
                <a:ea typeface="Noto Sans KR"/>
              </a:rPr>
              <a:t>서버</a:t>
            </a:r>
            <a:r>
              <a:rPr lang="en-US" sz="172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29" b="0">
                <a:solidFill>
                  <a:srgbClr val="EEF2F6"/>
                </a:solidFill>
                <a:latin typeface="Noto Sans KR"/>
                <a:ea typeface="Noto Sans KR"/>
              </a:rPr>
              <a:t>유닛</a:t>
            </a:r>
            <a:r>
              <a:rPr lang="en-US" sz="172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29" b="0">
                <a:solidFill>
                  <a:srgbClr val="EEF2F6"/>
                </a:solidFill>
                <a:latin typeface="Noto Sans KR"/>
                <a:ea typeface="Noto Sans KR"/>
              </a:rPr>
              <a:t>탈착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7578" y="2137826"/>
            <a:ext cx="588576" cy="40648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3" b="1">
                <a:solidFill>
                  <a:srgbClr val="3FC1D9"/>
                </a:solidFill>
                <a:latin typeface="Noto Sans KR"/>
                <a:ea typeface="Noto Sans KR"/>
              </a:rPr>
              <a:t>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9958" y="2572055"/>
            <a:ext cx="1806726" cy="3378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73" b="0">
                <a:solidFill>
                  <a:srgbClr val="EEF2F6"/>
                </a:solidFill>
                <a:latin typeface="Noto Sans KR"/>
                <a:ea typeface="Noto Sans KR"/>
              </a:rPr>
              <a:t>발열</a:t>
            </a:r>
            <a:r>
              <a:rPr lang="en-US" sz="1773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1773" b="0">
                <a:solidFill>
                  <a:srgbClr val="EEF2F6"/>
                </a:solidFill>
                <a:latin typeface="Noto Sans KR"/>
                <a:ea typeface="Noto Sans KR"/>
              </a:rPr>
              <a:t>부품</a:t>
            </a:r>
            <a:r>
              <a:rPr lang="en-US" sz="177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73" b="0">
                <a:solidFill>
                  <a:srgbClr val="EEF2F6"/>
                </a:solidFill>
                <a:latin typeface="Noto Sans KR"/>
                <a:ea typeface="Noto Sans KR"/>
              </a:rPr>
              <a:t>열용량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2657" y="2970095"/>
            <a:ext cx="1905908" cy="3303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배관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네트워크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유량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1705" y="3366048"/>
            <a:ext cx="2075754" cy="33631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176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흐름</a:t>
            </a:r>
            <a:r>
              <a:rPr lang="en-US" sz="1765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흡기</a:t>
            </a:r>
            <a:r>
              <a:rPr lang="en-US" sz="176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9631" y="2138578"/>
            <a:ext cx="592407" cy="40937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48" b="1">
                <a:solidFill>
                  <a:srgbClr val="F2A65E"/>
                </a:solidFill>
                <a:latin typeface="Noto Sans KR"/>
                <a:ea typeface="Noto Sans KR"/>
              </a:rPr>
              <a:t>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9155" y="2570054"/>
            <a:ext cx="2177252" cy="3302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시간에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따른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7408" y="2975062"/>
            <a:ext cx="1797871" cy="3361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64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1764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1764" b="0">
                <a:solidFill>
                  <a:srgbClr val="EEF2F6"/>
                </a:solidFill>
                <a:latin typeface="Noto Sans KR"/>
                <a:ea typeface="Noto Sans KR"/>
              </a:rPr>
              <a:t>흡기</a:t>
            </a:r>
            <a:r>
              <a:rPr lang="en-US" sz="1764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64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530" y="4208156"/>
            <a:ext cx="6145984" cy="40372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정해진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애니메이션이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아니라</a:t>
            </a:r>
            <a:r>
              <a:rPr lang="en-US" sz="2119" b="1">
                <a:solidFill>
                  <a:srgbClr val="EEF2F6"/>
                </a:solidFill>
                <a:latin typeface="Noto Sans KR"/>
                <a:ea typeface="Noto Sans KR"/>
              </a:rPr>
              <a:t>,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계산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모델이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만든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53" y="4901977"/>
            <a:ext cx="6887491" cy="25654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부하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펌프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조절은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모든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 dirty="0" err="1">
                <a:solidFill>
                  <a:srgbClr val="A9B9CC"/>
                </a:solidFill>
                <a:latin typeface="Noto Sans KR"/>
                <a:ea typeface="Noto Sans KR"/>
              </a:rPr>
              <a:t>랙에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함께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적용</a:t>
            </a:r>
            <a:r>
              <a:rPr lang="en-US" sz="1346" b="0" dirty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유닛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탈착</a:t>
            </a:r>
            <a:r>
              <a:rPr lang="en-US" sz="1346" b="0" dirty="0">
                <a:solidFill>
                  <a:srgbClr val="A9B9CC"/>
                </a:solidFill>
                <a:latin typeface="Noto Sans KR"/>
                <a:ea typeface="Noto Sans KR"/>
              </a:rPr>
              <a:t>(E)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은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바라보는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유닛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하나에만</a:t>
            </a:r>
            <a:r>
              <a:rPr lang="en-US" sz="1346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 dirty="0">
                <a:solidFill>
                  <a:srgbClr val="A9B9CC"/>
                </a:solidFill>
                <a:latin typeface="Noto Sans KR"/>
                <a:ea typeface="Noto Sans KR"/>
              </a:rPr>
              <a:t>적용됩니다</a:t>
            </a:r>
            <a:r>
              <a:rPr lang="en-US" sz="1346" b="0" dirty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8132" y="6142292"/>
            <a:ext cx="3418260" cy="25179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21" b="0">
                <a:solidFill>
                  <a:srgbClr val="C9D6E3"/>
                </a:solidFill>
                <a:latin typeface="Noto Sans KR"/>
                <a:ea typeface="Noto Sans KR"/>
              </a:rPr>
              <a:t>Enter →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부하</a:t>
            </a:r>
            <a:r>
              <a:rPr lang="en-US" sz="132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변경</a:t>
            </a:r>
            <a:r>
              <a:rPr lang="en-US" sz="1321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펌프</a:t>
            </a:r>
            <a:r>
              <a:rPr lang="en-US" sz="132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조절</a:t>
            </a:r>
            <a:r>
              <a:rPr lang="en-US" sz="1321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유닛</a:t>
            </a:r>
            <a:r>
              <a:rPr lang="en-US" sz="132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탈착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307" y="1137245"/>
            <a:ext cx="4244824" cy="60245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  <a:r>
              <a:rPr lang="en-US" sz="3162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기류</a:t>
            </a:r>
            <a:r>
              <a:rPr lang="en-US" sz="3162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분기관</a:t>
            </a:r>
            <a:r>
              <a:rPr lang="en-US" sz="316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403" y="1970293"/>
            <a:ext cx="2226708" cy="40701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36" b="0">
                <a:solidFill>
                  <a:srgbClr val="EEF2F6"/>
                </a:solidFill>
                <a:latin typeface="Noto Sans KR"/>
                <a:ea typeface="Noto Sans KR"/>
              </a:rPr>
              <a:t>3D </a:t>
            </a:r>
            <a:r>
              <a:rPr lang="ko-KR" sz="2136" b="0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21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6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  <a:r>
              <a:rPr lang="en-US" sz="21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6" b="0">
                <a:solidFill>
                  <a:srgbClr val="EEF2F6"/>
                </a:solidFill>
                <a:latin typeface="Noto Sans KR"/>
                <a:ea typeface="Noto Sans KR"/>
              </a:rPr>
              <a:t>볼륨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831" y="2420414"/>
            <a:ext cx="3187024" cy="4040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속도장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기반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움직이는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무늬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4736" y="2864512"/>
            <a:ext cx="3116337" cy="40841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공급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회수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분기관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7880" y="3484852"/>
            <a:ext cx="4611937" cy="25660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 dirty="0">
                <a:solidFill>
                  <a:srgbClr val="A9B9CC"/>
                </a:solidFill>
                <a:latin typeface="Noto Sans KR"/>
                <a:ea typeface="Noto Sans KR"/>
              </a:rPr>
              <a:t>기류</a:t>
            </a:r>
            <a:r>
              <a:rPr lang="en-US" sz="1347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 dirty="0">
                <a:solidFill>
                  <a:srgbClr val="A9B9CC"/>
                </a:solidFill>
                <a:latin typeface="Noto Sans KR"/>
                <a:ea typeface="Noto Sans KR"/>
              </a:rPr>
              <a:t>무늬는</a:t>
            </a:r>
            <a:r>
              <a:rPr lang="en-US" sz="1347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 dirty="0">
                <a:solidFill>
                  <a:srgbClr val="A9B9CC"/>
                </a:solidFill>
                <a:latin typeface="Noto Sans KR"/>
                <a:ea typeface="Noto Sans KR"/>
              </a:rPr>
              <a:t>이해를</a:t>
            </a:r>
            <a:r>
              <a:rPr lang="en-US" sz="1347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 dirty="0">
                <a:solidFill>
                  <a:srgbClr val="A9B9CC"/>
                </a:solidFill>
                <a:latin typeface="Noto Sans KR"/>
                <a:ea typeface="Noto Sans KR"/>
              </a:rPr>
              <a:t>돕는</a:t>
            </a:r>
            <a:r>
              <a:rPr lang="en-US" sz="1347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 dirty="0">
                <a:solidFill>
                  <a:srgbClr val="A9B9CC"/>
                </a:solidFill>
                <a:latin typeface="Noto Sans KR"/>
                <a:ea typeface="Noto Sans KR"/>
              </a:rPr>
              <a:t>시각</a:t>
            </a:r>
            <a:r>
              <a:rPr lang="en-US" sz="1347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 dirty="0">
                <a:solidFill>
                  <a:srgbClr val="A9B9CC"/>
                </a:solidFill>
                <a:latin typeface="Noto Sans KR"/>
                <a:ea typeface="Noto Sans KR"/>
              </a:rPr>
              <a:t>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006" y="3751361"/>
            <a:ext cx="4786439" cy="25869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7" b="0" dirty="0">
                <a:solidFill>
                  <a:srgbClr val="A9B9CC"/>
                </a:solidFill>
                <a:latin typeface="Noto Sans KR"/>
                <a:ea typeface="Noto Sans KR"/>
              </a:rPr>
              <a:t>배관은</a:t>
            </a:r>
            <a:r>
              <a:rPr lang="en-US" sz="1357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 dirty="0" err="1">
                <a:solidFill>
                  <a:srgbClr val="A9B9CC"/>
                </a:solidFill>
                <a:latin typeface="Noto Sans KR"/>
                <a:ea typeface="Noto Sans KR"/>
              </a:rPr>
              <a:t>랙</a:t>
            </a:r>
            <a:r>
              <a:rPr lang="en-US" sz="1357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 dirty="0">
                <a:solidFill>
                  <a:srgbClr val="A9B9CC"/>
                </a:solidFill>
                <a:latin typeface="Noto Sans KR"/>
                <a:ea typeface="Noto Sans KR"/>
              </a:rPr>
              <a:t>분기관만</a:t>
            </a:r>
            <a:r>
              <a:rPr lang="en-US" sz="1357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 dirty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57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 dirty="0">
                <a:solidFill>
                  <a:srgbClr val="A9B9CC"/>
                </a:solidFill>
                <a:latin typeface="Noto Sans KR"/>
                <a:ea typeface="Noto Sans KR"/>
              </a:rPr>
              <a:t>표시</a:t>
            </a:r>
            <a:r>
              <a:rPr lang="en-US" sz="1357" b="0" dirty="0">
                <a:solidFill>
                  <a:srgbClr val="A9B9CC"/>
                </a:solidFill>
                <a:latin typeface="Noto Sans KR"/>
                <a:ea typeface="Noto Sans KR"/>
              </a:rPr>
              <a:t>(</a:t>
            </a:r>
            <a:r>
              <a:rPr lang="ko-KR" sz="1357" b="0" dirty="0">
                <a:solidFill>
                  <a:srgbClr val="A9B9CC"/>
                </a:solidFill>
                <a:latin typeface="Noto Sans KR"/>
                <a:ea typeface="Noto Sans KR"/>
              </a:rPr>
              <a:t>헤더</a:t>
            </a:r>
            <a:r>
              <a:rPr lang="en-US" sz="1357" b="0" dirty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57" b="0" dirty="0">
                <a:solidFill>
                  <a:srgbClr val="A9B9CC"/>
                </a:solidFill>
                <a:latin typeface="Noto Sans KR"/>
                <a:ea typeface="Noto Sans KR"/>
              </a:rPr>
              <a:t>펌프는</a:t>
            </a:r>
            <a:r>
              <a:rPr lang="en-US" sz="1357" b="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 dirty="0">
                <a:solidFill>
                  <a:srgbClr val="A9B9CC"/>
                </a:solidFill>
                <a:latin typeface="Noto Sans KR"/>
                <a:ea typeface="Noto Sans KR"/>
              </a:rPr>
              <a:t>회색</a:t>
            </a:r>
            <a:r>
              <a:rPr lang="en-US" sz="1357" b="0" dirty="0">
                <a:solidFill>
                  <a:srgbClr val="A9B9CC"/>
                </a:solidFill>
                <a:latin typeface="Noto Sans KR"/>
                <a:ea typeface="Noto Sans KR"/>
              </a:rPr>
              <a:t>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6703" y="6142071"/>
            <a:ext cx="5064541" cy="25420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온도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볼륨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관찰</a:t>
            </a:r>
            <a:r>
              <a:rPr lang="en-US" sz="1334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기류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무늬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끄기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켜기</a:t>
            </a:r>
            <a:r>
              <a:rPr lang="en-US" sz="1334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분기관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온도</a:t>
            </a:r>
            <a:r>
              <a:rPr lang="en-US" sz="1334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기본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복귀</a:t>
            </a:r>
          </a:p>
        </p:txBody>
      </p:sp>
      <p:pic>
        <p:nvPicPr>
          <p:cNvPr id="16" name="실제 화면" descr="p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550" y="1917700"/>
            <a:ext cx="5575300" cy="3130550"/>
          </a:xfrm>
          <a:prstGeom prst="roundRect">
            <a:avLst>
              <a:gd name="adj" fmla="val 2600"/>
            </a:avLst>
          </a:prstGeom>
        </p:spPr>
      </p:pic>
      <p:sp>
        <p:nvSpPr>
          <p:cNvPr id="18" name="범례"/>
          <p:cNvSpPr/>
          <p:nvPr/>
        </p:nvSpPr>
        <p:spPr>
          <a:xfrm>
            <a:off x="9467850" y="4743450"/>
            <a:ext cx="1143000" cy="88900"/>
          </a:xfrm>
          <a:prstGeom prst="rect">
            <a:avLst/>
          </a:prstGeom>
          <a:gradFill rotWithShape="1">
            <a:gsLst>
              <a:gs pos="0">
                <a:srgbClr val="2F6BFF"/>
              </a:gs>
              <a:gs pos="25000">
                <a:srgbClr val="35C8E8"/>
              </a:gs>
              <a:gs pos="50000">
                <a:srgbClr val="4CD964"/>
              </a:gs>
              <a:gs pos="75000">
                <a:srgbClr val="F5D54A"/>
              </a:gs>
              <a:gs pos="100000">
                <a:srgbClr val="F0453A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36050" y="4679950"/>
            <a:ext cx="381000" cy="203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 b="1">
                <a:solidFill>
                  <a:srgbClr val="1A2333"/>
                </a:solidFill>
                <a:latin typeface="Noto Sans KR"/>
                <a:ea typeface="Noto Sans KR"/>
              </a:rPr>
              <a:t>낮음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1650" y="4679950"/>
            <a:ext cx="381000" cy="203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A2333"/>
                </a:solidFill>
                <a:latin typeface="Noto Sans KR"/>
                <a:ea typeface="Noto Sans KR"/>
              </a:rPr>
              <a:t>높음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4705" y="1137690"/>
            <a:ext cx="5094278" cy="59710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저장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센서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평가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2831" y="1969121"/>
            <a:ext cx="1988143" cy="4088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46" b="0">
                <a:solidFill>
                  <a:srgbClr val="EEF2F6"/>
                </a:solidFill>
                <a:latin typeface="Noto Sans KR"/>
                <a:ea typeface="Noto Sans KR"/>
              </a:rPr>
              <a:t>구성</a:t>
            </a:r>
            <a:r>
              <a:rPr lang="en-US" sz="214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6" b="0">
                <a:solidFill>
                  <a:srgbClr val="EEF2F6"/>
                </a:solidFill>
                <a:latin typeface="Noto Sans KR"/>
                <a:ea typeface="Noto Sans KR"/>
              </a:rPr>
              <a:t>저장</a:t>
            </a:r>
            <a:r>
              <a:rPr lang="en-US" sz="2146" b="0">
                <a:solidFill>
                  <a:srgbClr val="EEF2F6"/>
                </a:solidFill>
                <a:latin typeface="Noto Sans KR"/>
                <a:ea typeface="Noto Sans KR"/>
              </a:rPr>
              <a:t> / </a:t>
            </a:r>
            <a:r>
              <a:rPr lang="ko-KR" sz="2146" b="0">
                <a:solidFill>
                  <a:srgbClr val="EEF2F6"/>
                </a:solidFill>
                <a:latin typeface="Noto Sans KR"/>
                <a:ea typeface="Noto Sans KR"/>
              </a:rPr>
              <a:t>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657" y="2419435"/>
            <a:ext cx="3622606" cy="4146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217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센서</a:t>
            </a:r>
            <a:r>
              <a:rPr lang="en-US" sz="2176" b="0">
                <a:solidFill>
                  <a:srgbClr val="EEF2F6"/>
                </a:solidFill>
                <a:latin typeface="Noto Sans KR"/>
                <a:ea typeface="Noto Sans KR"/>
              </a:rPr>
              <a:t>: 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지연</a:t>
            </a:r>
            <a:r>
              <a:rPr lang="en-US" sz="217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샘플링</a:t>
            </a:r>
            <a:r>
              <a:rPr lang="en-US" sz="217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잡음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2355" y="2864360"/>
            <a:ext cx="2909202" cy="41007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2" b="0">
                <a:solidFill>
                  <a:srgbClr val="EEF2F6"/>
                </a:solidFill>
                <a:latin typeface="Noto Sans KR"/>
                <a:ea typeface="Noto Sans KR"/>
              </a:rPr>
              <a:t>파일</a:t>
            </a:r>
            <a:r>
              <a:rPr lang="en-US" sz="215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2" b="0">
                <a:solidFill>
                  <a:srgbClr val="EEF2F6"/>
                </a:solidFill>
                <a:latin typeface="Noto Sans KR"/>
                <a:ea typeface="Noto Sans KR"/>
              </a:rPr>
              <a:t>리포트와</a:t>
            </a:r>
            <a:r>
              <a:rPr lang="en-US" sz="2152" b="0">
                <a:solidFill>
                  <a:srgbClr val="EEF2F6"/>
                </a:solidFill>
                <a:latin typeface="Noto Sans KR"/>
                <a:ea typeface="Noto Sans KR"/>
              </a:rPr>
              <a:t> A/B </a:t>
            </a:r>
            <a:r>
              <a:rPr lang="ko-KR" sz="2152" b="0">
                <a:solidFill>
                  <a:srgbClr val="EEF2F6"/>
                </a:solidFill>
                <a:latin typeface="Noto Sans KR"/>
                <a:ea typeface="Noto Sans KR"/>
              </a:rPr>
              <a:t>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1053" y="3485176"/>
            <a:ext cx="4872027" cy="26512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altLang="ko-KR" sz="1400" dirty="0">
                <a:solidFill>
                  <a:srgbClr val="A9B9CC"/>
                </a:solidFill>
                <a:latin typeface="Noto Sans KR"/>
                <a:ea typeface="Noto Sans KR"/>
              </a:rPr>
              <a:t>웹</a:t>
            </a:r>
            <a:r>
              <a:rPr lang="en-US" altLang="ko-KR" sz="1400" dirty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altLang="ko-KR" sz="1400" dirty="0">
                <a:solidFill>
                  <a:srgbClr val="A9B9CC"/>
                </a:solidFill>
                <a:latin typeface="Noto Sans KR"/>
                <a:ea typeface="Noto Sans KR"/>
              </a:rPr>
              <a:t>대시보드</a:t>
            </a:r>
            <a:r>
              <a:rPr lang="en-US" altLang="ko-KR" sz="1400" dirty="0">
                <a:solidFill>
                  <a:srgbClr val="A9B9CC"/>
                </a:solidFill>
                <a:latin typeface="Noto Sans KR"/>
                <a:ea typeface="Noto Sans KR"/>
              </a:rPr>
              <a:t> </a:t>
            </a:r>
            <a:r>
              <a:rPr lang="ko-KR" altLang="en-US" sz="1400" dirty="0">
                <a:solidFill>
                  <a:srgbClr val="A9B9CC"/>
                </a:solidFill>
                <a:latin typeface="Noto Sans KR"/>
                <a:ea typeface="Noto Sans KR"/>
              </a:rPr>
              <a:t>향후 제작 예정</a:t>
            </a:r>
            <a:endParaRPr lang="en-US" sz="1391" b="0" dirty="0">
              <a:solidFill>
                <a:srgbClr val="A9B9CC"/>
              </a:solidFill>
              <a:latin typeface="Segoe UI"/>
              <a:ea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1307" y="6140285"/>
            <a:ext cx="4853499" cy="25587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리포트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저장</a:t>
            </a:r>
            <a:r>
              <a:rPr lang="en-US" sz="1343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실제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리포트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확인</a:t>
            </a:r>
            <a:r>
              <a:rPr lang="en-US" sz="1343" b="0">
                <a:solidFill>
                  <a:srgbClr val="C9D6E3"/>
                </a:solidFill>
                <a:latin typeface="Noto Sans KR"/>
                <a:ea typeface="Noto Sans KR"/>
              </a:rPr>
              <a:t> → A/B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비교</a:t>
            </a:r>
            <a:r>
              <a:rPr lang="en-US" sz="1343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배치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저장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복원</a:t>
            </a:r>
          </a:p>
        </p:txBody>
      </p:sp>
      <p:graphicFrame>
        <p:nvGraphicFramePr>
          <p:cNvPr id="17" name="A/B 비교 리포트"/>
          <p:cNvGraphicFramePr>
            <a:graphicFrameLocks noGrp="1"/>
          </p:cNvGraphicFramePr>
          <p:nvPr/>
        </p:nvGraphicFramePr>
        <p:xfrm>
          <a:off x="5797550" y="1917700"/>
          <a:ext cx="5575300" cy="313054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956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6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FC1D9"/>
                          </a:solidFill>
                          <a:latin typeface="Noto Sans KR"/>
                          <a:ea typeface="Noto Sans KR"/>
                        </a:rPr>
                        <a:t>항목</a:t>
                      </a:r>
                    </a:p>
                  </a:txBody>
                  <a:tcPr marL="101600" marR="101600" marT="0" marB="0" anchor="ctr">
                    <a:solidFill>
                      <a:srgbClr val="1B2D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3FC1D9"/>
                          </a:solidFill>
                          <a:latin typeface="Noto Sans KR"/>
                          <a:ea typeface="Noto Sans KR"/>
                        </a:rPr>
                        <a:t>A 차단 없음</a:t>
                      </a:r>
                    </a:p>
                  </a:txBody>
                  <a:tcPr marL="101600" marR="101600" marT="0" marB="0" anchor="ctr">
                    <a:solidFill>
                      <a:srgbClr val="1B2D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3FC1D9"/>
                          </a:solidFill>
                          <a:latin typeface="Noto Sans KR"/>
                          <a:ea typeface="Noto Sans KR"/>
                        </a:rPr>
                        <a:t>B 블랭킹+지붕</a:t>
                      </a:r>
                    </a:p>
                  </a:txBody>
                  <a:tcPr marL="101600" marR="101600" marT="0" marB="0" anchor="ctr">
                    <a:solidFill>
                      <a:srgbClr val="1B2D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3FC1D9"/>
                          </a:solidFill>
                          <a:latin typeface="Noto Sans KR"/>
                          <a:ea typeface="Noto Sans KR"/>
                        </a:rPr>
                        <a:t>B − A</a:t>
                      </a:r>
                    </a:p>
                  </a:txBody>
                  <a:tcPr marL="101600" marR="101600" marT="0" marB="0" anchor="ctr">
                    <a:solidFill>
                      <a:srgbClr val="1B2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흡기 온도 최고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31.0 °C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23.9 °C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2A65E"/>
                          </a:solidFill>
                          <a:latin typeface="Noto Sans KR"/>
                          <a:ea typeface="Noto Sans KR"/>
                        </a:rPr>
                        <a:t>-7.1 °C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흡기 온도 평균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26.4 °C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23.5 °C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-2.9 °C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권장 27 °C 초과 흡기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9곳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0곳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2A65E"/>
                          </a:solidFill>
                          <a:latin typeface="Noto Sans KR"/>
                          <a:ea typeface="Noto Sans KR"/>
                        </a:rPr>
                        <a:t>-9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가상 센서 경보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12곳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0곳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F2A65E"/>
                          </a:solidFill>
                          <a:latin typeface="Noto Sans KR"/>
                          <a:ea typeface="Noto Sans KR"/>
                        </a:rPr>
                        <a:t>-12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IT 전력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3,781 kW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3,773 kW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-8.8 kW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CRAH 팬 + 펌프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37.3 kW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37.3 kW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0.0 kW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부분 PUE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1.010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1.010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0.000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열 장부 오차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4.5e-14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4.9e-14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둘 다 ≈ 0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6872"/>
            <a:ext cx="1337923" cy="28263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83" b="1">
                <a:solidFill>
                  <a:srgbClr val="3FC1D9"/>
                </a:solidFill>
                <a:latin typeface="Noto Sans KR"/>
                <a:ea typeface="Noto Sans KR"/>
              </a:rPr>
              <a:t>기술</a:t>
            </a:r>
            <a:r>
              <a:rPr lang="en-US" sz="1483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ko-KR" sz="1483" b="1">
                <a:solidFill>
                  <a:srgbClr val="3FC1D9"/>
                </a:solidFill>
                <a:latin typeface="Noto Sans KR"/>
                <a:ea typeface="Noto Sans KR"/>
              </a:rPr>
              <a:t>검증</a:t>
            </a:r>
            <a:r>
              <a:rPr lang="en-US" sz="1483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83" b="1">
                <a:solidFill>
                  <a:srgbClr val="3FC1D9"/>
                </a:solidFill>
                <a:latin typeface="Noto Sans KR"/>
                <a:ea typeface="Noto Sans KR"/>
              </a:rPr>
              <a:t>성과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355" y="1138609"/>
            <a:ext cx="7598951" cy="58608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화면뿐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아니라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자동화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검사와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열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장부로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908" y="2172271"/>
            <a:ext cx="1667318" cy="83735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395" b="1">
                <a:solidFill>
                  <a:srgbClr val="3FC1D9"/>
                </a:solidFill>
                <a:latin typeface="Noto Sans KR"/>
                <a:ea typeface="Noto Sans KR"/>
              </a:rPr>
              <a:t>222</a:t>
            </a:r>
            <a:r>
              <a:rPr lang="ko-KR" sz="4395" b="1">
                <a:solidFill>
                  <a:srgbClr val="3FC1D9"/>
                </a:solidFill>
                <a:latin typeface="Noto Sans KR"/>
                <a:ea typeface="Noto Sans KR"/>
              </a:rPr>
              <a:t>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352" y="2931891"/>
            <a:ext cx="2045975" cy="4026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3" b="1">
                <a:solidFill>
                  <a:srgbClr val="EEF2F6"/>
                </a:solidFill>
                <a:latin typeface="Noto Sans KR"/>
                <a:ea typeface="Noto Sans KR"/>
              </a:rPr>
              <a:t>자동화</a:t>
            </a:r>
            <a:r>
              <a:rPr lang="en-US" sz="2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1">
                <a:solidFill>
                  <a:srgbClr val="EEF2F6"/>
                </a:solidFill>
                <a:latin typeface="Noto Sans KR"/>
                <a:ea typeface="Noto Sans KR"/>
              </a:rPr>
              <a:t>검사</a:t>
            </a:r>
            <a:r>
              <a:rPr lang="en-US" sz="2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1">
                <a:solidFill>
                  <a:srgbClr val="EEF2F6"/>
                </a:solidFill>
                <a:latin typeface="Noto Sans KR"/>
                <a:ea typeface="Noto Sans KR"/>
              </a:rPr>
              <a:t>성공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9653" y="3541034"/>
            <a:ext cx="2039353" cy="26717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02" b="0">
                <a:solidFill>
                  <a:srgbClr val="A9B9CC"/>
                </a:solidFill>
                <a:latin typeface="Noto Sans KR"/>
                <a:ea typeface="Noto Sans KR"/>
              </a:rPr>
              <a:t>무경고</a:t>
            </a:r>
            <a:r>
              <a:rPr lang="en-US" sz="1402" b="0">
                <a:solidFill>
                  <a:srgbClr val="A9B9CC"/>
                </a:solidFill>
                <a:latin typeface="Noto Sans KR"/>
                <a:ea typeface="Noto Sans KR"/>
              </a:rPr>
              <a:t> 213 + </a:t>
            </a:r>
            <a:r>
              <a:rPr lang="ko-KR" sz="1402" b="0">
                <a:solidFill>
                  <a:srgbClr val="A9B9CC"/>
                </a:solidFill>
                <a:latin typeface="Noto Sans KR"/>
                <a:ea typeface="Noto Sans KR"/>
              </a:rPr>
              <a:t>경고</a:t>
            </a:r>
            <a:r>
              <a:rPr lang="en-US" sz="1402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402" b="0">
                <a:solidFill>
                  <a:srgbClr val="A9B9CC"/>
                </a:solidFill>
                <a:latin typeface="Noto Sans KR"/>
                <a:ea typeface="Noto Sans KR"/>
              </a:rPr>
              <a:t>동반</a:t>
            </a:r>
            <a:r>
              <a:rPr lang="en-US" sz="1402" b="0">
                <a:solidFill>
                  <a:srgbClr val="A9B9CC"/>
                </a:solidFill>
                <a:latin typeface="Noto Sans KR"/>
                <a:ea typeface="Noto Sans KR"/>
              </a:rPr>
              <a:t>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9653" y="3808704"/>
            <a:ext cx="1533348" cy="25658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고유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검사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종류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5770" y="2255948"/>
            <a:ext cx="3831505" cy="8009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204" b="1">
                <a:solidFill>
                  <a:srgbClr val="F2A65E"/>
                </a:solidFill>
                <a:latin typeface="Noto Sans KR"/>
                <a:ea typeface="Noto Sans KR"/>
              </a:rPr>
              <a:t>1.27 </a:t>
            </a:r>
            <a:r>
              <a:rPr lang="en-US" sz="4204" b="1">
                <a:solidFill>
                  <a:srgbClr val="F2A65E"/>
                </a:solidFill>
                <a:latin typeface="Segoe UI"/>
                <a:ea typeface="Segoe UI"/>
              </a:rPr>
              <a:t>×</a:t>
            </a:r>
            <a:r>
              <a:rPr lang="en-US" sz="4204" b="1">
                <a:solidFill>
                  <a:srgbClr val="F2A65E"/>
                </a:solidFill>
                <a:latin typeface="Noto Sans KR"/>
                <a:ea typeface="Noto Sans KR"/>
              </a:rPr>
              <a:t> 10⁻¹⁴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5455" y="2932020"/>
            <a:ext cx="2634031" cy="40115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전역</a:t>
            </a:r>
            <a:r>
              <a:rPr lang="en-US" sz="210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열수지</a:t>
            </a:r>
            <a:r>
              <a:rPr lang="en-US" sz="210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상대</a:t>
            </a:r>
            <a:r>
              <a:rPr lang="en-US" sz="210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오차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1328" y="3541998"/>
            <a:ext cx="1703506" cy="2566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계산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장부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일관성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8153" y="3809826"/>
            <a:ext cx="2248639" cy="25597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시설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정확도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지표는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아님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7580" y="2182334"/>
            <a:ext cx="1883983" cy="83821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400" b="1">
                <a:solidFill>
                  <a:srgbClr val="6FA8FF"/>
                </a:solidFill>
                <a:latin typeface="Noto Sans KR"/>
                <a:ea typeface="Noto Sans KR"/>
              </a:rPr>
              <a:t>Win64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1230" y="2933589"/>
            <a:ext cx="1778532" cy="40245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2" b="1">
                <a:solidFill>
                  <a:srgbClr val="EEF2F6"/>
                </a:solidFill>
                <a:latin typeface="Noto Sans KR"/>
                <a:ea typeface="Noto Sans KR"/>
              </a:rPr>
              <a:t>독립</a:t>
            </a:r>
            <a:r>
              <a:rPr lang="en-US" sz="211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2" b="1">
                <a:solidFill>
                  <a:srgbClr val="EEF2F6"/>
                </a:solidFill>
                <a:latin typeface="Noto Sans KR"/>
                <a:ea typeface="Noto Sans KR"/>
              </a:rPr>
              <a:t>실행</a:t>
            </a:r>
            <a:r>
              <a:rPr lang="en-US" sz="211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2" b="1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182" y="3542067"/>
            <a:ext cx="2138598" cy="25590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43" b="0">
                <a:solidFill>
                  <a:srgbClr val="A9B9CC"/>
                </a:solidFill>
                <a:latin typeface="Noto Sans KR"/>
                <a:ea typeface="Noto Sans KR"/>
              </a:rPr>
              <a:t>Development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패키징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성공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1706" y="3809102"/>
            <a:ext cx="2098571" cy="26426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배치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저장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복원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5052" y="4769543"/>
            <a:ext cx="3074928" cy="25837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측정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집계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조건</a:t>
            </a:r>
            <a:r>
              <a:rPr lang="en-US" sz="1356" b="1">
                <a:solidFill>
                  <a:srgbClr val="C9D6E3"/>
                </a:solidFill>
                <a:latin typeface="Noto Sans KR"/>
                <a:ea typeface="Noto Sans KR"/>
              </a:rPr>
              <a:t> (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저장소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기존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실행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기록</a:t>
            </a:r>
            <a:r>
              <a:rPr lang="en-US" sz="1356" b="1">
                <a:solidFill>
                  <a:srgbClr val="C9D6E3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005" y="5072606"/>
            <a:ext cx="10624435" cy="26592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열수지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= |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입력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−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출력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−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축적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| ÷ (IT + CRAH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팬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입력에너지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),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무차원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·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최종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패키지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기본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30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초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, 33,210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셀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, 1,500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스텝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, h 0.25 m, dt 0.02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227" y="5341875"/>
            <a:ext cx="2087055" cy="2623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77" b="0">
                <a:solidFill>
                  <a:srgbClr val="A9B9CC"/>
                </a:solidFill>
                <a:latin typeface="Noto Sans KR"/>
                <a:ea typeface="Noto Sans KR"/>
              </a:rPr>
              <a:t>s </a:t>
            </a:r>
            <a:r>
              <a:rPr lang="en-US" sz="1377" b="0">
                <a:solidFill>
                  <a:srgbClr val="A9B9CC"/>
                </a:solidFill>
                <a:latin typeface="Segoe UI"/>
                <a:ea typeface="Segoe UI"/>
              </a:rPr>
              <a:t>· </a:t>
            </a:r>
            <a:r>
              <a:rPr lang="ko-KR" sz="1377" b="0">
                <a:solidFill>
                  <a:srgbClr val="A9B9CC"/>
                </a:solidFill>
                <a:latin typeface="Noto Sans KR"/>
                <a:ea typeface="Noto Sans KR"/>
              </a:rPr>
              <a:t>기존</a:t>
            </a:r>
            <a:r>
              <a:rPr lang="en-US" sz="137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77" b="0">
                <a:solidFill>
                  <a:srgbClr val="A9B9CC"/>
                </a:solidFill>
                <a:latin typeface="Noto Sans KR"/>
                <a:ea typeface="Noto Sans KR"/>
              </a:rPr>
              <a:t>기준</a:t>
            </a:r>
            <a:r>
              <a:rPr lang="en-US" sz="1377" b="0">
                <a:solidFill>
                  <a:srgbClr val="A9B9CC"/>
                </a:solidFill>
                <a:latin typeface="Noto Sans KR"/>
                <a:ea typeface="Noto Sans KR"/>
              </a:rPr>
              <a:t> 10⁻⁹ </a:t>
            </a:r>
            <a:r>
              <a:rPr lang="ko-KR" sz="1377" b="0">
                <a:solidFill>
                  <a:srgbClr val="A9B9CC"/>
                </a:solidFill>
                <a:latin typeface="Noto Sans KR"/>
                <a:ea typeface="Noto Sans KR"/>
              </a:rPr>
              <a:t>미만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8703" y="5657285"/>
            <a:ext cx="8526755" cy="26044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222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종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=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전체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1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회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실행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217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성공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5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실패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→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테스트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월드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구성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수정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후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실패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5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종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재통과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이후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변경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영향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검사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수행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837406"/>
            <a:ext cx="1009162" cy="2762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현재</a:t>
            </a:r>
            <a:r>
              <a:rPr lang="en-US" sz="1450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진행도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006" y="1140180"/>
            <a:ext cx="8576286" cy="59708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핵심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계산</a:t>
            </a:r>
            <a:r>
              <a:rPr lang="en-US" sz="3134" b="1">
                <a:solidFill>
                  <a:srgbClr val="EEF2F6"/>
                </a:solidFill>
                <a:latin typeface="Noto Sans KR"/>
                <a:ea typeface="Noto Sans KR"/>
              </a:rPr>
              <a:t> MVP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에서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시각화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비교까지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105" y="1953089"/>
            <a:ext cx="967299" cy="42254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218" b="1">
                <a:solidFill>
                  <a:srgbClr val="EEF2F6"/>
                </a:solidFill>
                <a:latin typeface="Noto Sans KR"/>
                <a:ea typeface="Noto Sans KR"/>
              </a:rPr>
              <a:t>S0~S4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87282" y="1957271"/>
            <a:ext cx="4138520" cy="41860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실행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열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수력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통합</a:t>
            </a:r>
            <a:r>
              <a:rPr lang="en-US" sz="2197" b="0">
                <a:solidFill>
                  <a:srgbClr val="EEF2F6"/>
                </a:solidFill>
                <a:latin typeface="Noto Sans KR"/>
                <a:ea typeface="Noto Sans KR"/>
              </a:rPr>
              <a:t>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26503" y="1989556"/>
            <a:ext cx="500527" cy="3399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84" b="1">
                <a:solidFill>
                  <a:srgbClr val="0E1A2B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406" y="2489298"/>
            <a:ext cx="419002" cy="42176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214" b="1">
                <a:solidFill>
                  <a:srgbClr val="EEF2F6"/>
                </a:solidFill>
                <a:latin typeface="Noto Sans KR"/>
                <a:ea typeface="Noto Sans KR"/>
              </a:rPr>
              <a:t>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3631" y="2492178"/>
            <a:ext cx="4371201" cy="4125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5" b="0">
                <a:solidFill>
                  <a:srgbClr val="EEF2F6"/>
                </a:solidFill>
                <a:latin typeface="Noto Sans KR"/>
                <a:ea typeface="Noto Sans KR"/>
              </a:rPr>
              <a:t>옥트리</a:t>
            </a:r>
            <a:r>
              <a:rPr lang="en-US" sz="2165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5" b="0">
                <a:solidFill>
                  <a:srgbClr val="EEF2F6"/>
                </a:solidFill>
                <a:latin typeface="Noto Sans KR"/>
                <a:ea typeface="Noto Sans KR"/>
              </a:rPr>
              <a:t>자동</a:t>
            </a:r>
            <a:r>
              <a:rPr lang="en-US" sz="216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5" b="0">
                <a:solidFill>
                  <a:srgbClr val="EEF2F6"/>
                </a:solidFill>
                <a:latin typeface="Noto Sans KR"/>
                <a:ea typeface="Noto Sans KR"/>
              </a:rPr>
              <a:t>적응</a:t>
            </a:r>
            <a:r>
              <a:rPr lang="en-US" sz="2165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en-US" sz="2165" b="0">
                <a:solidFill>
                  <a:srgbClr val="EEF2F6"/>
                </a:solidFill>
                <a:latin typeface="Noto Sans KR"/>
                <a:ea typeface="Noto Sans KR"/>
              </a:rPr>
              <a:t>LOD </a:t>
            </a:r>
            <a:r>
              <a:rPr lang="en-US" sz="2165" b="0">
                <a:solidFill>
                  <a:srgbClr val="A9B9CC"/>
                </a:solidFill>
                <a:latin typeface="Noto Sans KR"/>
                <a:ea typeface="Noto Sans KR"/>
              </a:rPr>
              <a:t>(</a:t>
            </a:r>
            <a:r>
              <a:rPr lang="ko-KR" sz="2165" b="0">
                <a:solidFill>
                  <a:srgbClr val="A9B9CC"/>
                </a:solidFill>
                <a:latin typeface="Noto Sans KR"/>
                <a:ea typeface="Noto Sans KR"/>
              </a:rPr>
              <a:t>비교</a:t>
            </a:r>
            <a:r>
              <a:rPr lang="en-US" sz="216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2165" b="0">
                <a:solidFill>
                  <a:srgbClr val="A9B9CC"/>
                </a:solidFill>
                <a:latin typeface="Noto Sans KR"/>
                <a:ea typeface="Noto Sans KR"/>
              </a:rPr>
              <a:t>한계</a:t>
            </a:r>
            <a:r>
              <a:rPr lang="en-US" sz="2165" b="0">
                <a:solidFill>
                  <a:srgbClr val="A9B9CC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26503" y="2522956"/>
            <a:ext cx="500527" cy="3399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84" b="1">
                <a:solidFill>
                  <a:srgbClr val="0E1A2B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7105" y="3018679"/>
            <a:ext cx="415357" cy="41759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92" b="1">
                <a:solidFill>
                  <a:srgbClr val="EEF2F6"/>
                </a:solidFill>
                <a:latin typeface="Noto Sans KR"/>
                <a:ea typeface="Noto Sans KR"/>
              </a:rPr>
              <a:t>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5060" y="3016685"/>
            <a:ext cx="4116737" cy="41088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저장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센서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평가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리포트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6503" y="3050006"/>
            <a:ext cx="500527" cy="3399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84" b="1">
                <a:solidFill>
                  <a:srgbClr val="0E1A2B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105" y="3548667"/>
            <a:ext cx="409035" cy="4103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54" b="1">
                <a:solidFill>
                  <a:srgbClr val="EEF2F6"/>
                </a:solidFill>
                <a:latin typeface="Noto Sans KR"/>
                <a:ea typeface="Noto Sans KR"/>
              </a:rPr>
              <a:t>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6330" y="3551750"/>
            <a:ext cx="4814481" cy="41142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핵심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구현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  <a:r>
              <a:rPr lang="en-US" sz="2159" b="0">
                <a:solidFill>
                  <a:srgbClr val="EEF2F6"/>
                </a:solidFill>
                <a:latin typeface="Noto Sans KR"/>
                <a:ea typeface="Noto Sans KR"/>
              </a:rPr>
              <a:t>,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웹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대시보드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성능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남음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4730" y="3587189"/>
            <a:ext cx="970504" cy="3275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19" b="1">
                <a:solidFill>
                  <a:srgbClr val="1C1A12"/>
                </a:solidFill>
                <a:latin typeface="Noto Sans KR"/>
                <a:ea typeface="Noto Sans KR"/>
              </a:rPr>
              <a:t>일부</a:t>
            </a:r>
            <a:r>
              <a:rPr lang="en-US" sz="1719" b="1">
                <a:solidFill>
                  <a:srgbClr val="1C1A12"/>
                </a:solidFill>
                <a:latin typeface="Segoe UI"/>
                <a:ea typeface="Segoe UI"/>
              </a:rPr>
              <a:t> </a:t>
            </a:r>
            <a:r>
              <a:rPr lang="ko-KR" sz="1719" b="1">
                <a:solidFill>
                  <a:srgbClr val="1C1A12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7105" y="4080680"/>
            <a:ext cx="601359" cy="41194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62" b="1">
                <a:solidFill>
                  <a:srgbClr val="EEF2F6"/>
                </a:solidFill>
                <a:latin typeface="Noto Sans KR"/>
                <a:ea typeface="Noto Sans KR"/>
              </a:rPr>
              <a:t>S2b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3631" y="4079556"/>
            <a:ext cx="3532013" cy="4139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누수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재고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장애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6808" y="4112306"/>
            <a:ext cx="715061" cy="33472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57" b="1">
                <a:solidFill>
                  <a:srgbClr val="EEF2F6"/>
                </a:solidFill>
                <a:latin typeface="Noto Sans KR"/>
                <a:ea typeface="Noto Sans KR"/>
              </a:rPr>
              <a:t>미착수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453" y="4608963"/>
            <a:ext cx="588843" cy="40668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4" b="1">
                <a:solidFill>
                  <a:srgbClr val="EEF2F6"/>
                </a:solidFill>
                <a:latin typeface="Noto Sans KR"/>
                <a:ea typeface="Noto Sans KR"/>
              </a:rPr>
              <a:t>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89981" y="4603334"/>
            <a:ext cx="4921419" cy="42017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205" b="0">
                <a:solidFill>
                  <a:srgbClr val="EEF2F6"/>
                </a:solidFill>
                <a:latin typeface="Noto Sans KR"/>
                <a:ea typeface="Noto Sans KR"/>
              </a:rPr>
              <a:t>시뮬레이션</a:t>
            </a:r>
            <a:r>
              <a:rPr lang="en-US" sz="220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205" b="0">
                <a:solidFill>
                  <a:srgbClr val="EEF2F6"/>
                </a:solidFill>
                <a:latin typeface="Noto Sans KR"/>
                <a:ea typeface="Noto Sans KR"/>
              </a:rPr>
              <a:t>약</a:t>
            </a:r>
            <a:r>
              <a:rPr lang="en-US" sz="2205" b="0">
                <a:solidFill>
                  <a:srgbClr val="EEF2F6"/>
                </a:solidFill>
                <a:latin typeface="Noto Sans KR"/>
                <a:ea typeface="Noto Sans KR"/>
              </a:rPr>
              <a:t> 52.9 FPS </a:t>
            </a:r>
            <a:r>
              <a:rPr lang="en-US" sz="2205" b="0">
                <a:solidFill>
                  <a:srgbClr val="EEF2F6"/>
                </a:solidFill>
                <a:latin typeface="Segoe UI"/>
                <a:ea typeface="Segoe UI"/>
              </a:rPr>
              <a:t>· </a:t>
            </a:r>
            <a:r>
              <a:rPr lang="ko-KR" sz="2205" b="0">
                <a:solidFill>
                  <a:srgbClr val="EEF2F6"/>
                </a:solidFill>
                <a:latin typeface="Noto Sans KR"/>
                <a:ea typeface="Noto Sans KR"/>
              </a:rPr>
              <a:t>목표</a:t>
            </a:r>
            <a:r>
              <a:rPr lang="en-US" sz="2205" b="0">
                <a:solidFill>
                  <a:srgbClr val="EEF2F6"/>
                </a:solidFill>
                <a:latin typeface="Noto Sans KR"/>
                <a:ea typeface="Noto Sans KR"/>
              </a:rPr>
              <a:t> 60 FPS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4253" y="4642553"/>
            <a:ext cx="973897" cy="3287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5" b="1">
                <a:solidFill>
                  <a:srgbClr val="2A0E08"/>
                </a:solidFill>
                <a:latin typeface="Noto Sans KR"/>
                <a:ea typeface="Noto Sans KR"/>
              </a:rPr>
              <a:t>목표</a:t>
            </a:r>
            <a:r>
              <a:rPr lang="en-US" sz="1725" b="1">
                <a:solidFill>
                  <a:srgbClr val="2A0E08"/>
                </a:solidFill>
                <a:latin typeface="Segoe UI"/>
                <a:ea typeface="Segoe UI"/>
              </a:rPr>
              <a:t> </a:t>
            </a:r>
            <a:r>
              <a:rPr lang="ko-KR" sz="1725" b="1">
                <a:solidFill>
                  <a:srgbClr val="2A0E08"/>
                </a:solidFill>
                <a:latin typeface="Noto Sans KR"/>
                <a:ea typeface="Noto Sans KR"/>
              </a:rPr>
              <a:t>미달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2006" y="838414"/>
            <a:ext cx="831502" cy="2780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59" b="1">
                <a:solidFill>
                  <a:srgbClr val="3FC1D9"/>
                </a:solidFill>
                <a:latin typeface="Noto Sans KR"/>
                <a:ea typeface="Noto Sans KR"/>
              </a:rPr>
              <a:t>다음</a:t>
            </a:r>
            <a:r>
              <a:rPr lang="en-US" sz="1459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59" b="1">
                <a:solidFill>
                  <a:srgbClr val="3FC1D9"/>
                </a:solidFill>
                <a:latin typeface="Noto Sans KR"/>
                <a:ea typeface="Noto Sans KR"/>
              </a:rPr>
              <a:t>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5657" y="1141039"/>
            <a:ext cx="6508160" cy="58930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3093" b="1">
                <a:solidFill>
                  <a:srgbClr val="EEF2F6"/>
                </a:solidFill>
                <a:latin typeface="Noto Sans KR"/>
                <a:ea typeface="Noto Sans KR"/>
              </a:rPr>
              <a:t>S7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을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마무리한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뒤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마지막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단계</a:t>
            </a:r>
            <a:r>
              <a:rPr lang="en-US" sz="3093" b="1">
                <a:solidFill>
                  <a:srgbClr val="EEF2F6"/>
                </a:solidFill>
                <a:latin typeface="Noto Sans KR"/>
                <a:ea typeface="Noto Sans KR"/>
              </a:rPr>
              <a:t> S2b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928" y="2081532"/>
            <a:ext cx="1992996" cy="41104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57" b="1">
                <a:solidFill>
                  <a:srgbClr val="EEF2F6"/>
                </a:solidFill>
                <a:latin typeface="Noto Sans KR"/>
                <a:ea typeface="Noto Sans KR"/>
              </a:rPr>
              <a:t>① S7 </a:t>
            </a:r>
            <a:r>
              <a:rPr lang="ko-KR" sz="2157" b="1">
                <a:solidFill>
                  <a:srgbClr val="EEF2F6"/>
                </a:solidFill>
                <a:latin typeface="Noto Sans KR"/>
                <a:ea typeface="Noto Sans KR"/>
              </a:rPr>
              <a:t>남은</a:t>
            </a:r>
            <a:r>
              <a:rPr lang="en-US" sz="2157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7" b="1">
                <a:solidFill>
                  <a:srgbClr val="EEF2F6"/>
                </a:solidFill>
                <a:latin typeface="Noto Sans KR"/>
                <a:ea typeface="Noto Sans KR"/>
              </a:rPr>
              <a:t>작업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44878" y="2148720"/>
            <a:ext cx="772963" cy="2571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1C1A12"/>
                </a:solidFill>
                <a:latin typeface="Noto Sans KR"/>
                <a:ea typeface="Noto Sans KR"/>
              </a:rPr>
              <a:t>일부</a:t>
            </a:r>
            <a:r>
              <a:rPr lang="en-US" sz="1350" b="1">
                <a:solidFill>
                  <a:srgbClr val="1C1A12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1C1A12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2230" y="2585513"/>
            <a:ext cx="1452584" cy="4040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웹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대시보드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881" y="3003780"/>
            <a:ext cx="1924709" cy="4131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성능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개선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2706" y="3428304"/>
            <a:ext cx="2637226" cy="4016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최신</a:t>
            </a:r>
            <a:r>
              <a:rPr lang="en-US" sz="210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패키지</a:t>
            </a:r>
            <a:r>
              <a:rPr lang="en-US" sz="210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조작</a:t>
            </a:r>
            <a:r>
              <a:rPr lang="en-US" sz="210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8928" y="2081649"/>
            <a:ext cx="2446813" cy="4095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50" b="1">
                <a:solidFill>
                  <a:srgbClr val="EEF2F6"/>
                </a:solidFill>
                <a:latin typeface="Noto Sans KR"/>
                <a:ea typeface="Noto Sans KR"/>
              </a:rPr>
              <a:t>② S2b </a:t>
            </a:r>
            <a:r>
              <a:rPr lang="ko-KR" sz="2150" b="1">
                <a:solidFill>
                  <a:srgbClr val="EEF2F6"/>
                </a:solidFill>
                <a:latin typeface="Noto Sans KR"/>
                <a:ea typeface="Noto Sans KR"/>
              </a:rPr>
              <a:t>마지막</a:t>
            </a:r>
            <a:r>
              <a:rPr lang="en-US" sz="215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0" b="1">
                <a:solidFill>
                  <a:srgbClr val="EEF2F6"/>
                </a:solidFill>
                <a:latin typeface="Noto Sans KR"/>
                <a:ea typeface="Noto Sans KR"/>
              </a:rPr>
              <a:t>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33856" y="2146838"/>
            <a:ext cx="567240" cy="26023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6" b="1">
                <a:solidFill>
                  <a:srgbClr val="EEF2F6"/>
                </a:solidFill>
                <a:latin typeface="Noto Sans KR"/>
                <a:ea typeface="Noto Sans KR"/>
              </a:rPr>
              <a:t>미착수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7531" y="2584680"/>
            <a:ext cx="1924716" cy="4131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누수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밸브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격리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9436" y="3004517"/>
            <a:ext cx="1456219" cy="40507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212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재고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4357" y="3424809"/>
            <a:ext cx="2185665" cy="41074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질량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에너지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유출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7532" y="3843178"/>
            <a:ext cx="2362288" cy="4000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결과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기반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장애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평가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605" y="5594573"/>
            <a:ext cx="1765871" cy="5185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721" b="1">
                <a:solidFill>
                  <a:srgbClr val="3FC1D9"/>
                </a:solidFill>
                <a:latin typeface="Noto Sans KR"/>
                <a:ea typeface="Noto Sans KR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1082</Words>
  <Application>Microsoft Office PowerPoint</Application>
  <PresentationFormat>와이드스크린</PresentationFormat>
  <Paragraphs>209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Noto Sans KR</vt:lpstr>
      <vt:lpstr>맑은 고딕</vt:lpstr>
      <vt:lpstr>Arial</vt:lpstr>
      <vt:lpstr>Calibri</vt:lpstr>
      <vt:lpstr>Segoe UI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김경준(2022184005)</cp:lastModifiedBy>
  <cp:revision>3</cp:revision>
  <dcterms:created xsi:type="dcterms:W3CDTF">2013-01-27T09:14:16Z</dcterms:created>
  <dcterms:modified xsi:type="dcterms:W3CDTF">2026-10-13T05:34:49Z</dcterms:modified>
  <cp:category/>
</cp:coreProperties>
</file>