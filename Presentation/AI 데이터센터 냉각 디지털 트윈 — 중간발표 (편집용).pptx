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8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 세부: 서버 열 = 칩 단위 613 노드의 열용량 기반 과도 모델(C·dT/dt = 발열 − 물로 간 열 − 공기로 간 열). 배관 = 노드 압력 Newton법(펌프 유량 보조 미지수, 200노드 초과는 희소 LU). 공기 = 0.25 m 균일 MAC 격자 투영법, 압력은 멀티그리드 PCG, Chen-Xu 0-방정식 난류(νt = 0.03874·|V|·l). 열교환 = ε-NTU(공조기 코일 ε = 1 − e^(−NTU), CDU는 대향류). 결합은 FCouplingBridge가 열 전달량을 한 번 계산해 양쪽에 같은 값으로 적용, 전역 열수지 잔차 약 1e-14. 실측 보정 전 모델.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1792946"/>
            <a:ext cx="2325547" cy="3008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9" b="1">
                <a:solidFill>
                  <a:srgbClr val="3FC1D9"/>
                </a:solidFill>
                <a:latin typeface="Noto Sans KR"/>
                <a:ea typeface="Noto Sans KR"/>
              </a:rPr>
              <a:t>중간발표</a:t>
            </a:r>
            <a:r>
              <a:rPr lang="en-US" sz="1579" b="1">
                <a:solidFill>
                  <a:srgbClr val="3FC1D9"/>
                </a:solidFill>
                <a:latin typeface="Segoe UI"/>
                <a:ea typeface="Segoe UI"/>
              </a:rPr>
              <a:t> ·</a:t>
            </a:r>
            <a:r>
              <a:rPr lang="en-US" sz="1579" b="1">
                <a:solidFill>
                  <a:srgbClr val="3FC1D9"/>
                </a:solidFill>
                <a:latin typeface="Noto Sans KR"/>
                <a:ea typeface="Noto Sans KR"/>
              </a:rPr>
              <a:t> 2026. 10. 07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8827" y="2231675"/>
            <a:ext cx="3385646" cy="7985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191" b="1">
                <a:solidFill>
                  <a:srgbClr val="EEF2F6"/>
                </a:solidFill>
                <a:latin typeface="Noto Sans KR"/>
                <a:ea typeface="Noto Sans KR"/>
              </a:rPr>
              <a:t>AI </a:t>
            </a:r>
            <a:r>
              <a:rPr lang="ko-KR" sz="4191" b="1">
                <a:solidFill>
                  <a:srgbClr val="EEF2F6"/>
                </a:solidFill>
                <a:latin typeface="Noto Sans KR"/>
                <a:ea typeface="Noto Sans KR"/>
              </a:rPr>
              <a:t>데이터센터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942" y="2847277"/>
            <a:ext cx="3867625" cy="770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4043" b="1" dirty="0">
                <a:solidFill>
                  <a:srgbClr val="EEF2F6"/>
                </a:solidFill>
                <a:latin typeface="Noto Sans KR"/>
                <a:ea typeface="Noto Sans KR"/>
              </a:rPr>
              <a:t>냉각</a:t>
            </a:r>
            <a:r>
              <a:rPr lang="en-US" sz="4043" b="1" dirty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4043" b="1" dirty="0">
                <a:solidFill>
                  <a:srgbClr val="EEF2F6"/>
                </a:solidFill>
                <a:latin typeface="Noto Sans KR"/>
                <a:ea typeface="Noto Sans KR"/>
              </a:rPr>
              <a:t>디지털</a:t>
            </a:r>
            <a:r>
              <a:rPr lang="en-US" sz="4043" b="1" dirty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4043" b="1" dirty="0">
                <a:solidFill>
                  <a:srgbClr val="EEF2F6"/>
                </a:solidFill>
                <a:latin typeface="Noto Sans KR"/>
                <a:ea typeface="Noto Sans KR"/>
              </a:rPr>
              <a:t>트윈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657" y="3695023"/>
            <a:ext cx="3781445" cy="409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배치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·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열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·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유동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통합</a:t>
            </a:r>
            <a:r>
              <a:rPr lang="en-US" sz="2150" b="1" dirty="0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50" b="1" dirty="0">
                <a:solidFill>
                  <a:srgbClr val="F2A65E"/>
                </a:solidFill>
                <a:latin typeface="Noto Sans KR"/>
                <a:ea typeface="Noto Sans KR"/>
              </a:rPr>
              <a:t>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958" y="4510272"/>
            <a:ext cx="773160" cy="29239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534" b="0" dirty="0">
                <a:solidFill>
                  <a:srgbClr val="A9B9CC"/>
                </a:solidFill>
                <a:latin typeface="Noto Sans KR"/>
                <a:ea typeface="Noto Sans KR"/>
              </a:rPr>
              <a:t>[</a:t>
            </a:r>
            <a:r>
              <a:rPr lang="ko-KR" altLang="en-US" sz="1534" dirty="0">
                <a:solidFill>
                  <a:srgbClr val="A9B9CC"/>
                </a:solidFill>
                <a:latin typeface="Noto Sans KR"/>
                <a:ea typeface="Noto Sans KR"/>
              </a:rPr>
              <a:t>가상현실게임</a:t>
            </a:r>
            <a:r>
              <a:rPr lang="en-US" altLang="ko-KR" sz="1534" dirty="0">
                <a:solidFill>
                  <a:srgbClr val="A9B9CC"/>
                </a:solidFill>
                <a:latin typeface="Noto Sans KR"/>
                <a:ea typeface="Noto Sans KR"/>
              </a:rPr>
              <a:t>(01)</a:t>
            </a:r>
            <a:r>
              <a:rPr lang="en-US" sz="1534" b="0" dirty="0">
                <a:solidFill>
                  <a:srgbClr val="A9B9CC"/>
                </a:solidFill>
                <a:latin typeface="Noto Sans KR"/>
                <a:ea typeface="Noto Sans KR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58" y="4816109"/>
            <a:ext cx="1624982" cy="2944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[</a:t>
            </a:r>
            <a:r>
              <a:rPr lang="ko-KR" alt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김동연</a:t>
            </a:r>
            <a:r>
              <a:rPr lang="en-US" altLang="ko-KR" sz="1545" b="0" dirty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alt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김경준</a:t>
            </a:r>
            <a:r>
              <a:rPr lang="en-US" altLang="ko-KR" sz="1545" b="0" dirty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alt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정진영</a:t>
            </a:r>
            <a:r>
              <a:rPr lang="en-US" sz="1545" b="0" dirty="0">
                <a:solidFill>
                  <a:srgbClr val="A9B9CC"/>
                </a:solidFill>
                <a:latin typeface="Noto Sans KR"/>
                <a:ea typeface="Noto Sans KR"/>
              </a:rPr>
              <a:t>]</a:t>
            </a:r>
          </a:p>
        </p:txBody>
      </p:sp>
      <p:pic>
        <p:nvPicPr>
          <p:cNvPr id="13" name="조감 화면" descr="slide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0" y="1835150"/>
            <a:ext cx="5638800" cy="3187700"/>
          </a:xfrm>
          <a:prstGeom prst="roundRect">
            <a:avLst>
              <a:gd name="adj" fmla="val 2600"/>
            </a:avLst>
          </a:prstGeom>
        </p:spPr>
      </p:pic>
      <p:sp>
        <p:nvSpPr>
          <p:cNvPr id="14" name="조감 화면 캡션"/>
          <p:cNvSpPr txBox="1"/>
          <p:nvPr/>
        </p:nvSpPr>
        <p:spPr>
          <a:xfrm>
            <a:off x="5765800" y="5099050"/>
            <a:ext cx="563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lang="en-US" sz="1100" b="0">
                <a:solidFill>
                  <a:srgbClr val="A9B9CC"/>
                </a:solidFill>
                <a:latin typeface="Noto Sans KR"/>
                <a:ea typeface="Noto Sans KR"/>
              </a:rPr>
              <a:t>최신 빌드 화면 · GB200 NVL72 랙 32대 기본 구성 · 2026. 10. 10 촬영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837406"/>
            <a:ext cx="1009162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문제와</a:t>
            </a:r>
            <a:r>
              <a:rPr lang="en-US" sz="1450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0736" y="1143847"/>
            <a:ext cx="7677851" cy="5848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배치와</a:t>
            </a:r>
            <a:r>
              <a:rPr lang="en-US" sz="307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냉각</a:t>
            </a:r>
            <a:r>
              <a:rPr lang="en-US" sz="307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조건을</a:t>
            </a:r>
            <a:r>
              <a:rPr lang="en-US" sz="307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바꿔</a:t>
            </a:r>
            <a:r>
              <a:rPr lang="en-US" sz="307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보는</a:t>
            </a:r>
            <a:r>
              <a:rPr lang="en-US" sz="307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가상</a:t>
            </a:r>
            <a:r>
              <a:rPr lang="en-US" sz="307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실험</a:t>
            </a:r>
            <a:r>
              <a:rPr lang="en-US" sz="307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0" b="1">
                <a:solidFill>
                  <a:srgbClr val="EEF2F6"/>
                </a:solidFill>
                <a:latin typeface="Noto Sans KR"/>
                <a:ea typeface="Noto Sans KR"/>
              </a:rPr>
              <a:t>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006" y="1897906"/>
            <a:ext cx="10758006" cy="40219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장비의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열은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3FC1D9"/>
                </a:solidFill>
                <a:latin typeface="Noto Sans KR"/>
                <a:ea typeface="Noto Sans KR"/>
              </a:rPr>
              <a:t>냉각수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와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6FA8FF"/>
                </a:solidFill>
                <a:latin typeface="Noto Sans KR"/>
                <a:ea typeface="Noto Sans KR"/>
              </a:rPr>
              <a:t>공기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두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경로로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나뉘어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이동합니다</a:t>
            </a:r>
            <a:r>
              <a:rPr lang="en-US" sz="2111" b="0">
                <a:solidFill>
                  <a:srgbClr val="C9D6E3"/>
                </a:solidFill>
                <a:latin typeface="Noto Sans KR"/>
                <a:ea typeface="Noto Sans KR"/>
              </a:rPr>
              <a:t>.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장비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위치나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냉각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장치</a:t>
            </a:r>
            <a:r>
              <a:rPr lang="en-US" sz="211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C9D6E3"/>
                </a:solidFill>
                <a:latin typeface="Noto Sans KR"/>
                <a:ea typeface="Noto Sans KR"/>
              </a:rPr>
              <a:t>하나만으로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8831" y="2287064"/>
            <a:ext cx="5003305" cy="4040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는</a:t>
            </a:r>
            <a:r>
              <a:rPr lang="en-US" sz="212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전체</a:t>
            </a:r>
            <a:r>
              <a:rPr lang="en-US" sz="212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냉각</a:t>
            </a:r>
            <a:r>
              <a:rPr lang="en-US" sz="212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상태를</a:t>
            </a:r>
            <a:r>
              <a:rPr lang="en-US" sz="212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설명하기</a:t>
            </a:r>
            <a:r>
              <a:rPr lang="en-US" sz="212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C9D6E3"/>
                </a:solidFill>
                <a:latin typeface="Noto Sans KR"/>
                <a:ea typeface="Noto Sans KR"/>
              </a:rPr>
              <a:t>어렵습니다</a:t>
            </a:r>
            <a:r>
              <a:rPr lang="en-US" sz="2120" b="0">
                <a:solidFill>
                  <a:srgbClr val="C9D6E3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953" y="3106418"/>
            <a:ext cx="286867" cy="2790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64" b="1">
                <a:solidFill>
                  <a:srgbClr val="3FC1D9"/>
                </a:solidFill>
                <a:latin typeface="Noto Sans KR"/>
                <a:ea typeface="Noto Sans K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382" y="3420812"/>
            <a:ext cx="1182563" cy="40304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211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253" y="3104738"/>
            <a:ext cx="280782" cy="27184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27" b="1">
                <a:solidFill>
                  <a:srgbClr val="3FC1D9"/>
                </a:solidFill>
                <a:latin typeface="Noto Sans KR"/>
                <a:ea typeface="Noto Sans K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729" y="3420819"/>
            <a:ext cx="1182339" cy="40296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조건</a:t>
            </a:r>
            <a:r>
              <a:rPr lang="en-US" sz="211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5" b="1">
                <a:solidFill>
                  <a:srgbClr val="EEF2F6"/>
                </a:solidFill>
                <a:latin typeface="Noto Sans KR"/>
                <a:ea typeface="Noto Sans KR"/>
              </a:rPr>
              <a:t>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9553" y="3108392"/>
            <a:ext cx="275074" cy="2651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91" b="1">
                <a:solidFill>
                  <a:srgbClr val="3FC1D9"/>
                </a:solidFill>
                <a:latin typeface="Noto Sans KR"/>
                <a:ea typeface="Noto Sans K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3681" y="3422596"/>
            <a:ext cx="1178857" cy="40172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8" b="1">
                <a:solidFill>
                  <a:srgbClr val="EEF2F6"/>
                </a:solidFill>
                <a:latin typeface="Noto Sans KR"/>
                <a:ea typeface="Noto Sans KR"/>
              </a:rPr>
              <a:t>결과</a:t>
            </a:r>
            <a:r>
              <a:rPr lang="en-US" sz="2108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1">
                <a:solidFill>
                  <a:srgbClr val="EEF2F6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0853" y="3107714"/>
            <a:ext cx="279127" cy="2698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16" b="1">
                <a:solidFill>
                  <a:srgbClr val="3FC1D9"/>
                </a:solidFill>
                <a:latin typeface="Noto Sans KR"/>
                <a:ea typeface="Noto Sans K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4028" y="3423622"/>
            <a:ext cx="1710270" cy="4017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8" b="1">
                <a:solidFill>
                  <a:srgbClr val="EEF2F6"/>
                </a:solidFill>
                <a:latin typeface="Noto Sans KR"/>
                <a:ea typeface="Noto Sans KR"/>
              </a:rPr>
              <a:t>시나리오</a:t>
            </a:r>
            <a:r>
              <a:rPr lang="en-US" sz="2108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1">
                <a:solidFill>
                  <a:srgbClr val="EEF2F6"/>
                </a:solidFill>
                <a:latin typeface="Noto Sans KR"/>
                <a:ea typeface="Noto Sans KR"/>
              </a:rPr>
              <a:t>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830" y="4311218"/>
            <a:ext cx="5361101" cy="4064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실측</a:t>
            </a:r>
            <a:r>
              <a:rPr lang="en-US" sz="2133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보정</a:t>
            </a:r>
            <a:r>
              <a:rPr lang="en-US" sz="2133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전</a:t>
            </a:r>
            <a:r>
              <a:rPr lang="en-US" sz="2133" b="1">
                <a:solidFill>
                  <a:srgbClr val="F2A65E"/>
                </a:solidFill>
                <a:latin typeface="Segoe UI"/>
                <a:ea typeface="Segoe UI"/>
              </a:rPr>
              <a:t> ·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교육</a:t>
            </a:r>
            <a:r>
              <a:rPr lang="en-US" sz="2133" b="1">
                <a:solidFill>
                  <a:srgbClr val="F2A65E"/>
                </a:solidFill>
                <a:latin typeface="Segoe UI"/>
                <a:ea typeface="Segoe UI"/>
              </a:rPr>
              <a:t>·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배치</a:t>
            </a:r>
            <a:r>
              <a:rPr lang="en-US" sz="2133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실험용</a:t>
            </a:r>
            <a:r>
              <a:rPr lang="en-US" sz="2133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2133" b="1">
                <a:solidFill>
                  <a:srgbClr val="F2A65E"/>
                </a:solidFill>
                <a:latin typeface="Noto Sans KR"/>
                <a:ea typeface="Noto Sans KR"/>
              </a:rPr>
              <a:t>프로토타입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353" y="4761150"/>
            <a:ext cx="5928663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공개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사양과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일부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모델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가정을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사용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·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실제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시설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계측값과는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아직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연결하지</a:t>
            </a:r>
            <a:r>
              <a:rPr lang="en-US" sz="1350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A9B9CC"/>
                </a:solidFill>
                <a:latin typeface="Noto Sans KR"/>
                <a:ea typeface="Noto Sans KR"/>
              </a:rPr>
              <a:t>않음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837140"/>
            <a:ext cx="1250313" cy="2794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66" b="1">
                <a:solidFill>
                  <a:srgbClr val="3FC1D9"/>
                </a:solidFill>
                <a:latin typeface="Noto Sans KR"/>
                <a:ea typeface="Noto Sans KR"/>
              </a:rPr>
              <a:t>전체</a:t>
            </a:r>
            <a:r>
              <a:rPr lang="en-US" sz="1466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66" b="1">
                <a:solidFill>
                  <a:srgbClr val="3FC1D9"/>
                </a:solidFill>
                <a:latin typeface="Noto Sans KR"/>
                <a:ea typeface="Noto Sans KR"/>
              </a:rPr>
              <a:t>동작</a:t>
            </a:r>
            <a:r>
              <a:rPr lang="en-US" sz="1466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66" b="1">
                <a:solidFill>
                  <a:srgbClr val="3FC1D9"/>
                </a:solidFill>
                <a:latin typeface="Noto Sans KR"/>
                <a:ea typeface="Noto Sans KR"/>
              </a:rPr>
              <a:t>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513" y="1141335"/>
            <a:ext cx="7112416" cy="58575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랙의</a:t>
            </a:r>
            <a:r>
              <a:rPr lang="en-US" sz="307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열이</a:t>
            </a:r>
            <a:r>
              <a:rPr lang="en-US" sz="307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냉각수와</a:t>
            </a:r>
            <a:r>
              <a:rPr lang="en-US" sz="307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공기로</a:t>
            </a:r>
            <a:r>
              <a:rPr lang="en-US" sz="307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이동하는</a:t>
            </a:r>
            <a:r>
              <a:rPr lang="en-US" sz="307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4" b="1">
                <a:solidFill>
                  <a:srgbClr val="EEF2F6"/>
                </a:solidFill>
                <a:latin typeface="Noto Sans KR"/>
                <a:ea typeface="Noto Sans KR"/>
              </a:rPr>
              <a:t>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8458" y="2883490"/>
            <a:ext cx="319568" cy="40630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2" b="1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2530" y="3331701"/>
            <a:ext cx="1278514" cy="27530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445" b="0">
                <a:solidFill>
                  <a:srgbClr val="E6D3C4"/>
                </a:solidFill>
                <a:latin typeface="Noto Sans KR"/>
                <a:ea typeface="Noto Sans KR"/>
              </a:rPr>
              <a:t>GB200 NVL72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5905" y="3664632"/>
            <a:ext cx="563810" cy="25850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7" b="1">
                <a:solidFill>
                  <a:srgbClr val="F2A65E"/>
                </a:solidFill>
                <a:latin typeface="Noto Sans KR"/>
                <a:ea typeface="Noto Sans KR"/>
              </a:rPr>
              <a:t>발열원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6455" y="1959148"/>
            <a:ext cx="558127" cy="3315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740" b="1">
                <a:solidFill>
                  <a:srgbClr val="EEF2F6"/>
                </a:solidFill>
                <a:latin typeface="Noto Sans KR"/>
                <a:ea typeface="Noto Sans KR"/>
              </a:rPr>
              <a:t>CDU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8482" y="2299974"/>
            <a:ext cx="1158345" cy="2579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4" b="0">
                <a:solidFill>
                  <a:srgbClr val="BFE6EE"/>
                </a:solidFill>
                <a:latin typeface="Noto Sans KR"/>
                <a:ea typeface="Noto Sans KR"/>
              </a:rPr>
              <a:t>냉각수</a:t>
            </a:r>
            <a:r>
              <a:rPr lang="en-US" sz="1354" b="0">
                <a:solidFill>
                  <a:srgbClr val="BFE6EE"/>
                </a:solidFill>
                <a:latin typeface="Segoe UI"/>
                <a:ea typeface="Segoe UI"/>
              </a:rPr>
              <a:t> </a:t>
            </a:r>
            <a:r>
              <a:rPr lang="ko-KR" sz="1354" b="0">
                <a:solidFill>
                  <a:srgbClr val="BFE6EE"/>
                </a:solidFill>
                <a:latin typeface="Noto Sans KR"/>
                <a:ea typeface="Noto Sans KR"/>
              </a:rPr>
              <a:t>열</a:t>
            </a:r>
            <a:r>
              <a:rPr lang="en-US" sz="1354" b="0">
                <a:solidFill>
                  <a:srgbClr val="BFE6EE"/>
                </a:solidFill>
                <a:latin typeface="Segoe UI"/>
                <a:ea typeface="Segoe UI"/>
              </a:rPr>
              <a:t> </a:t>
            </a:r>
            <a:r>
              <a:rPr lang="ko-KR" sz="1354" b="0">
                <a:solidFill>
                  <a:srgbClr val="BFE6EE"/>
                </a:solidFill>
                <a:latin typeface="Noto Sans KR"/>
                <a:ea typeface="Noto Sans KR"/>
              </a:rPr>
              <a:t>교환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7652" y="1961290"/>
            <a:ext cx="707565" cy="3309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7" b="1">
                <a:solidFill>
                  <a:srgbClr val="EEF2F6"/>
                </a:solidFill>
                <a:latin typeface="Noto Sans KR"/>
                <a:ea typeface="Noto Sans KR"/>
              </a:rPr>
              <a:t>시설수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4305" y="2297350"/>
            <a:ext cx="943068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BFE6EE"/>
                </a:solidFill>
                <a:latin typeface="Noto Sans KR"/>
                <a:ea typeface="Noto Sans KR"/>
              </a:rPr>
              <a:t>열을</a:t>
            </a:r>
            <a:r>
              <a:rPr lang="en-US" sz="1350" b="0">
                <a:solidFill>
                  <a:srgbClr val="BFE6EE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BFE6EE"/>
                </a:solidFill>
                <a:latin typeface="Noto Sans KR"/>
                <a:ea typeface="Noto Sans KR"/>
              </a:rPr>
              <a:t>외부로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5331" y="3103108"/>
            <a:ext cx="757627" cy="32929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8" b="1">
                <a:solidFill>
                  <a:srgbClr val="EEF2F6"/>
                </a:solidFill>
                <a:latin typeface="Noto Sans KR"/>
                <a:ea typeface="Noto Sans KR"/>
              </a:rPr>
              <a:t>방</a:t>
            </a:r>
            <a:r>
              <a:rPr lang="en-US" sz="1728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28" b="1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9128" y="3439299"/>
            <a:ext cx="1048137" cy="2686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10" b="0">
                <a:solidFill>
                  <a:srgbClr val="C6DAF7"/>
                </a:solidFill>
                <a:latin typeface="Noto Sans KR"/>
                <a:ea typeface="Noto Sans KR"/>
              </a:rPr>
              <a:t>온도</a:t>
            </a:r>
            <a:r>
              <a:rPr lang="en-US" sz="1410" b="0">
                <a:solidFill>
                  <a:srgbClr val="C6DAF7"/>
                </a:solidFill>
                <a:latin typeface="Segoe UI"/>
                <a:ea typeface="Segoe UI"/>
              </a:rPr>
              <a:t>·</a:t>
            </a:r>
            <a:r>
              <a:rPr lang="ko-KR" sz="1410" b="0">
                <a:solidFill>
                  <a:srgbClr val="C6DAF7"/>
                </a:solidFill>
                <a:latin typeface="Noto Sans KR"/>
                <a:ea typeface="Noto Sans KR"/>
              </a:rPr>
              <a:t>속도장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9080" y="3100377"/>
            <a:ext cx="730551" cy="3440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806" b="1">
                <a:solidFill>
                  <a:srgbClr val="EEF2F6"/>
                </a:solidFill>
                <a:latin typeface="Noto Sans KR"/>
                <a:ea typeface="Noto Sans KR"/>
              </a:rPr>
              <a:t>CRAH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703" y="3439754"/>
            <a:ext cx="1246859" cy="26368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84" b="0">
                <a:solidFill>
                  <a:srgbClr val="C6DAF7"/>
                </a:solidFill>
                <a:latin typeface="Noto Sans KR"/>
                <a:ea typeface="Noto Sans KR"/>
              </a:rPr>
              <a:t>공기</a:t>
            </a:r>
            <a:r>
              <a:rPr lang="en-US" sz="1384" b="0">
                <a:solidFill>
                  <a:srgbClr val="C6DAF7"/>
                </a:solidFill>
                <a:latin typeface="Segoe UI"/>
                <a:ea typeface="Segoe UI"/>
              </a:rPr>
              <a:t> </a:t>
            </a:r>
            <a:r>
              <a:rPr lang="ko-KR" sz="1384" b="0">
                <a:solidFill>
                  <a:srgbClr val="C6DAF7"/>
                </a:solidFill>
                <a:latin typeface="Noto Sans KR"/>
                <a:ea typeface="Noto Sans KR"/>
              </a:rPr>
              <a:t>냉각</a:t>
            </a:r>
            <a:r>
              <a:rPr lang="en-US" sz="1384" b="0">
                <a:solidFill>
                  <a:srgbClr val="C6DAF7"/>
                </a:solidFill>
                <a:latin typeface="Segoe UI"/>
                <a:ea typeface="Segoe UI"/>
              </a:rPr>
              <a:t>·</a:t>
            </a:r>
            <a:r>
              <a:rPr lang="ko-KR" sz="1384" b="0">
                <a:solidFill>
                  <a:srgbClr val="C6DAF7"/>
                </a:solidFill>
                <a:latin typeface="Noto Sans KR"/>
                <a:ea typeface="Noto Sans KR"/>
              </a:rPr>
              <a:t>순환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953" y="4244263"/>
            <a:ext cx="715022" cy="33470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56" b="1">
                <a:solidFill>
                  <a:srgbClr val="EEF2F6"/>
                </a:solidFill>
                <a:latin typeface="Noto Sans KR"/>
                <a:ea typeface="Noto Sans KR"/>
              </a:rPr>
              <a:t>스파인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0707" y="4583283"/>
            <a:ext cx="1116210" cy="25790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3" b="0">
                <a:solidFill>
                  <a:srgbClr val="DCD1F3"/>
                </a:solidFill>
                <a:latin typeface="Noto Sans KR"/>
                <a:ea typeface="Noto Sans KR"/>
              </a:rPr>
              <a:t>네트워크</a:t>
            </a:r>
            <a:r>
              <a:rPr lang="en-US" sz="1353" b="0">
                <a:solidFill>
                  <a:srgbClr val="DCD1F3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DCD1F3"/>
                </a:solidFill>
                <a:latin typeface="Noto Sans KR"/>
                <a:ea typeface="Noto Sans KR"/>
              </a:rPr>
              <a:t>장비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4981" y="1904612"/>
            <a:ext cx="563654" cy="2584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6" b="1">
                <a:solidFill>
                  <a:srgbClr val="3FC1D9"/>
                </a:solidFill>
                <a:latin typeface="Noto Sans KR"/>
                <a:ea typeface="Noto Sans KR"/>
              </a:rPr>
              <a:t>냉각수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6102" y="3051259"/>
            <a:ext cx="394740" cy="25997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4" b="1">
                <a:solidFill>
                  <a:srgbClr val="6FA8FF"/>
                </a:solidFill>
                <a:latin typeface="Noto Sans KR"/>
                <a:ea typeface="Noto Sans KR"/>
              </a:rPr>
              <a:t>공기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4505" y="4191675"/>
            <a:ext cx="563969" cy="2585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7" b="1">
                <a:solidFill>
                  <a:srgbClr val="B9A3E8"/>
                </a:solidFill>
                <a:latin typeface="Noto Sans KR"/>
                <a:ea typeface="Noto Sans KR"/>
              </a:rPr>
              <a:t>데이터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3505" y="1992679"/>
            <a:ext cx="599819" cy="2557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2" b="0">
                <a:solidFill>
                  <a:srgbClr val="EEF2F6"/>
                </a:solidFill>
                <a:latin typeface="Noto Sans KR"/>
                <a:ea typeface="Noto Sans KR"/>
              </a:rPr>
              <a:t>열</a:t>
            </a:r>
            <a:r>
              <a:rPr lang="en-US" sz="134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42" b="0">
                <a:solidFill>
                  <a:srgbClr val="EEF2F6"/>
                </a:solidFill>
                <a:latin typeface="Noto Sans KR"/>
                <a:ea typeface="Noto Sans KR"/>
              </a:rPr>
              <a:t>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0806" y="2500588"/>
            <a:ext cx="941626" cy="2567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EEF2F6"/>
                </a:solidFill>
                <a:latin typeface="Noto Sans KR"/>
                <a:ea typeface="Noto Sans KR"/>
              </a:rPr>
              <a:t>데이터</a:t>
            </a:r>
            <a:r>
              <a:rPr lang="en-US" sz="134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EEF2F6"/>
                </a:solidFill>
                <a:latin typeface="Noto Sans KR"/>
                <a:ea typeface="Noto Sans KR"/>
              </a:rPr>
              <a:t>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330" y="5449093"/>
            <a:ext cx="772947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135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EEF2F6"/>
                </a:solidFill>
                <a:latin typeface="Noto Sans KR"/>
                <a:ea typeface="Noto Sans KR"/>
              </a:rPr>
              <a:t>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6128" y="5446952"/>
            <a:ext cx="913620" cy="24613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292" b="0">
                <a:solidFill>
                  <a:srgbClr val="A9B9CC"/>
                </a:solidFill>
                <a:latin typeface="Noto Sans KR"/>
                <a:ea typeface="Noto Sans KR"/>
              </a:rPr>
              <a:t>— Enter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9752" y="5449033"/>
            <a:ext cx="1286782" cy="2578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3" b="1">
                <a:solidFill>
                  <a:srgbClr val="EEF2F6"/>
                </a:solidFill>
                <a:latin typeface="Noto Sans KR"/>
                <a:ea typeface="Noto Sans KR"/>
              </a:rPr>
              <a:t>시뮬레이션</a:t>
            </a:r>
            <a:r>
              <a:rPr lang="en-US" sz="135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353" b="1">
                <a:solidFill>
                  <a:srgbClr val="EEF2F6"/>
                </a:solidFill>
                <a:latin typeface="Noto Sans KR"/>
                <a:ea typeface="Noto Sans KR"/>
              </a:rPr>
              <a:t>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2603" y="5446950"/>
            <a:ext cx="3321357" cy="2571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모든</a:t>
            </a:r>
            <a:r>
              <a:rPr lang="en-US" sz="135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모델이</a:t>
            </a:r>
            <a:r>
              <a:rPr lang="en-US" sz="135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하나의</a:t>
            </a:r>
            <a:r>
              <a:rPr lang="en-US" sz="135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시뮬레이션</a:t>
            </a:r>
            <a:r>
              <a:rPr lang="en-US" sz="135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시간을</a:t>
            </a:r>
            <a:r>
              <a:rPr lang="en-US" sz="135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0" b="0">
                <a:solidFill>
                  <a:srgbClr val="C9D6E3"/>
                </a:solidFill>
                <a:latin typeface="Noto Sans KR"/>
                <a:ea typeface="Noto Sans KR"/>
              </a:rPr>
              <a:t>공유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라벨"/>
          <p:cNvSpPr txBox="1"/>
          <p:nvPr/>
        </p:nvSpPr>
        <p:spPr>
          <a:xfrm>
            <a:off x="812800" y="8128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lang="ko-KR">
                <a:solidFill>
                  <a:srgbClr val="3FC1D9"/>
                </a:solidFill>
                <a:latin typeface="Noto Sans KR"/>
                <a:ea typeface="Noto Sans KR"/>
              </a:rPr>
              <a:t>계산의</a:t>
            </a:r>
            <a:r>
              <a:rPr sz="1450" b="1" lang="en-US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sz="1450" b="1" lang="ko-KR">
                <a:solidFill>
                  <a:srgbClr val="3FC1D9"/>
                </a:solidFill>
                <a:latin typeface="Noto Sans KR"/>
                <a:ea typeface="Noto Sans KR"/>
              </a:rPr>
              <a:t>원리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812800" y="1092200"/>
            <a:ext cx="10668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어떤</a:t>
            </a:r>
            <a:r>
              <a:rPr sz="300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물리</a:t>
            </a:r>
            <a:r>
              <a:rPr sz="300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모델로</a:t>
            </a:r>
            <a:r>
              <a:rPr sz="300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만들었나</a:t>
            </a:r>
          </a:p>
        </p:txBody>
      </p:sp>
      <p:sp>
        <p:nvSpPr>
          <p:cNvPr id="4" name="서버의 열"/>
          <p:cNvSpPr/>
          <p:nvPr/>
        </p:nvSpPr>
        <p:spPr>
          <a:xfrm>
            <a:off x="812800" y="18796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0" y="18796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8796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F2A65E"/>
                </a:solidFill>
                <a:latin typeface="Noto Sans KR"/>
                <a:ea typeface="Noto Sans KR"/>
              </a:rPr>
              <a:t>서버의</a:t>
            </a:r>
            <a:r>
              <a:rPr sz="165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F2A65E"/>
                </a:solidFill>
                <a:latin typeface="Noto Sans KR"/>
                <a:ea typeface="Noto Sans KR"/>
              </a:rPr>
              <a:t>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7200" y="20320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다절점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열용량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7200" y="23622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랙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1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대를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칩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단위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613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부분으로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나눠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시간에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따라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데워지고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식는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과정을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</a:p>
        </p:txBody>
      </p:sp>
      <p:sp>
        <p:nvSpPr>
          <p:cNvPr id="9" name="배관의 물"/>
          <p:cNvSpPr/>
          <p:nvPr/>
        </p:nvSpPr>
        <p:spPr>
          <a:xfrm>
            <a:off x="812800" y="28448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2800" y="28448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28448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3FC1D9"/>
                </a:solidFill>
                <a:latin typeface="Noto Sans KR"/>
                <a:ea typeface="Noto Sans KR"/>
              </a:rPr>
              <a:t>배관의</a:t>
            </a:r>
            <a:r>
              <a:rPr sz="1650" b="1" lang="en-US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3FC1D9"/>
                </a:solidFill>
                <a:latin typeface="Noto Sans KR"/>
                <a:ea typeface="Noto Sans KR"/>
              </a:rPr>
              <a:t>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200" y="29972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네트워크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수력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7200" y="33274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펌프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성능과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배관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저항이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맞는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지점을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Newton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법으로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찾아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랙마다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흐르는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물의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양을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</a:p>
        </p:txBody>
      </p:sp>
      <p:sp>
        <p:nvSpPr>
          <p:cNvPr id="14" name="방 안의 공기"/>
          <p:cNvSpPr/>
          <p:nvPr/>
        </p:nvSpPr>
        <p:spPr>
          <a:xfrm>
            <a:off x="812800" y="38100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2800" y="38100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38100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6FA8FF"/>
                </a:solidFill>
                <a:latin typeface="Noto Sans KR"/>
                <a:ea typeface="Noto Sans KR"/>
              </a:rPr>
              <a:t>방</a:t>
            </a:r>
            <a:r>
              <a:rPr sz="1650" b="1" lang="en-US">
                <a:solidFill>
                  <a:srgbClr val="6FA8FF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6FA8FF"/>
                </a:solidFill>
                <a:latin typeface="Noto Sans KR"/>
                <a:ea typeface="Noto Sans KR"/>
              </a:rPr>
              <a:t>안의</a:t>
            </a:r>
            <a:r>
              <a:rPr sz="1650" b="1" lang="en-US">
                <a:solidFill>
                  <a:srgbClr val="6FA8FF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6FA8FF"/>
                </a:solidFill>
                <a:latin typeface="Noto Sans KR"/>
                <a:ea typeface="Noto Sans KR"/>
              </a:rPr>
              <a:t>공기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7200" y="39624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격자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기반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유체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(CFD) +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난류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7200" y="42926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방을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25 cm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칸으로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나눠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sz="1200" b="0" lang="en-US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바람을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(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부력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서버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팬</a:t>
            </a:r>
            <a:r>
              <a:rPr sz="1200" b="0" lang="en-US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공조기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바람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Chen-Xu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난류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9" name="냉각 장치"/>
          <p:cNvSpPr/>
          <p:nvPr/>
        </p:nvSpPr>
        <p:spPr>
          <a:xfrm>
            <a:off x="812800" y="47752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800" y="47752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800" y="47752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62D2A2"/>
                </a:solidFill>
                <a:latin typeface="Noto Sans KR"/>
                <a:ea typeface="Noto Sans KR"/>
              </a:rPr>
              <a:t>냉각</a:t>
            </a:r>
            <a:r>
              <a:rPr sz="1650" b="1" lang="en-US">
                <a:solidFill>
                  <a:srgbClr val="62D2A2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62D2A2"/>
                </a:solidFill>
                <a:latin typeface="Noto Sans KR"/>
                <a:ea typeface="Noto Sans KR"/>
              </a:rPr>
              <a:t>장치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7200" y="49276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ε-NTU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열교환기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7200" y="52578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CDU(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→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건물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냉각수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와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공조기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공기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→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냉수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가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넘기는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열을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크기를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키우면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효율이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포화</a:t>
            </a:r>
          </a:p>
        </p:txBody>
      </p:sp>
      <p:sp>
        <p:nvSpPr>
          <p:cNvPr id="24" name="결합"/>
          <p:cNvSpPr/>
          <p:nvPr/>
        </p:nvSpPr>
        <p:spPr>
          <a:xfrm>
            <a:off x="812800" y="5816600"/>
            <a:ext cx="10566400" cy="584200"/>
          </a:xfrm>
          <a:prstGeom prst="roundRect">
            <a:avLst>
              <a:gd name="adj" fmla="val 20000"/>
            </a:avLst>
          </a:prstGeom>
          <a:solidFill>
            <a:srgbClr val="13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800" y="5816600"/>
            <a:ext cx="10160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네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모델은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0.02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초마다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같은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시계로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함께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계산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되고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,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들어온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열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=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나간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열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+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쌓인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열이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맞는지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계속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확인합니다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355" y="1140101"/>
            <a:ext cx="2785790" cy="6005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52" b="1">
                <a:solidFill>
                  <a:srgbClr val="EEF2F6"/>
                </a:solidFill>
                <a:latin typeface="Noto Sans KR"/>
                <a:ea typeface="Noto Sans KR"/>
              </a:rPr>
              <a:t>장비</a:t>
            </a:r>
            <a:r>
              <a:rPr lang="en-US" sz="3152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52" b="1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3152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52" b="1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831" y="1967536"/>
            <a:ext cx="3560129" cy="42614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추가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이동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회전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복제</a:t>
            </a:r>
            <a:r>
              <a:rPr lang="en-US" sz="223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236" b="0">
                <a:solidFill>
                  <a:srgbClr val="EEF2F6"/>
                </a:solidFill>
                <a:latin typeface="Noto Sans KR"/>
                <a:ea typeface="Noto Sans KR"/>
              </a:rPr>
              <a:t>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4736" y="2420582"/>
            <a:ext cx="2640707" cy="4021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다중</a:t>
            </a:r>
            <a:r>
              <a:rPr lang="en-US" sz="2111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선택과</a:t>
            </a:r>
            <a:r>
              <a:rPr lang="en-US" sz="2111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그룹</a:t>
            </a:r>
            <a:r>
              <a:rPr lang="en-US" sz="2111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1" b="0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831" y="2866779"/>
            <a:ext cx="1924716" cy="4131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스냅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겹침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911" y="3318284"/>
            <a:ext cx="1727414" cy="4006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03" b="0">
                <a:solidFill>
                  <a:srgbClr val="EEF2F6"/>
                </a:solidFill>
                <a:latin typeface="Noto Sans KR"/>
                <a:ea typeface="Noto Sans KR"/>
              </a:rPr>
              <a:t>Undo / Redo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3936837"/>
            <a:ext cx="4665453" cy="25585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배치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결과가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이후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계산의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장비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위치와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연결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관계로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사용됩니다</a:t>
            </a:r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0831" y="6139509"/>
            <a:ext cx="3472745" cy="2527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랙</a:t>
            </a:r>
            <a:r>
              <a:rPr lang="en-US" sz="1326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이동</a:t>
            </a:r>
            <a:r>
              <a:rPr lang="en-US" sz="1326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그룹</a:t>
            </a:r>
            <a:r>
              <a:rPr lang="en-US" sz="1326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이동</a:t>
            </a:r>
            <a:r>
              <a:rPr lang="en-US" sz="1326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복제</a:t>
            </a:r>
            <a:r>
              <a:rPr lang="en-US" sz="1326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미리보기</a:t>
            </a:r>
            <a:r>
              <a:rPr lang="en-US" sz="1326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6" b="0">
                <a:solidFill>
                  <a:srgbClr val="C9D6E3"/>
                </a:solidFill>
                <a:latin typeface="Noto Sans KR"/>
                <a:ea typeface="Noto Sans KR"/>
              </a:rPr>
              <a:t>복원</a:t>
            </a:r>
          </a:p>
        </p:txBody>
      </p:sp>
      <p:pic>
        <p:nvPicPr>
          <p:cNvPr id="16" name="실제 화면" descr="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0" y="1917700"/>
            <a:ext cx="5575300" cy="3130550"/>
          </a:xfrm>
          <a:prstGeom prst="roundRect">
            <a:avLst>
              <a:gd name="adj" fmla="val 2600"/>
            </a:avLst>
          </a:prstGeom>
        </p:spPr>
      </p:pic>
      <p:sp>
        <p:nvSpPr>
          <p:cNvPr id="17" name="캡션"/>
          <p:cNvSpPr txBox="1"/>
          <p:nvPr/>
        </p:nvSpPr>
        <p:spPr>
          <a:xfrm>
            <a:off x="5797550" y="5124450"/>
            <a:ext cx="5575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ko-KR" sz="1100" b="0">
                <a:solidFill>
                  <a:srgbClr val="A9B9CC"/>
                </a:solidFill>
                <a:latin typeface="Noto Sans KR"/>
                <a:ea typeface="Noto Sans KR"/>
              </a:rPr>
              <a:t>배치 모드 · 랙 2대 다중 선택(초록) → Ctrl+D 복제 미리보기(주황) · 2026. 10. 10 촬영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8142"/>
            <a:ext cx="1672282" cy="2997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3" b="1">
                <a:solidFill>
                  <a:srgbClr val="3FC1D9"/>
                </a:solidFill>
                <a:latin typeface="Noto Sans KR"/>
                <a:ea typeface="Noto Sans KR"/>
              </a:rPr>
              <a:t>기능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037" y="1134191"/>
            <a:ext cx="3471764" cy="6067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방</a:t>
            </a:r>
            <a:r>
              <a:rPr lang="en-US" sz="318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천장</a:t>
            </a:r>
            <a:r>
              <a:rPr lang="en-US" sz="318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구멍</a:t>
            </a:r>
            <a:r>
              <a:rPr lang="en-US" sz="318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84" b="1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705" y="1969473"/>
            <a:ext cx="2303480" cy="4050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자동</a:t>
            </a:r>
            <a:r>
              <a:rPr lang="en-US" sz="2126" b="0">
                <a:solidFill>
                  <a:srgbClr val="EEF2F6"/>
                </a:solidFill>
                <a:latin typeface="Noto Sans KR"/>
                <a:ea typeface="Noto Sans KR"/>
              </a:rPr>
              <a:t> /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수동</a:t>
            </a:r>
            <a:r>
              <a:rPr lang="en-US" sz="212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방</a:t>
            </a:r>
            <a:r>
              <a:rPr lang="en-US" sz="212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356" y="2420778"/>
            <a:ext cx="1768214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천장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높이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831" y="2865047"/>
            <a:ext cx="2974699" cy="4025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부분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천장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판과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내부</a:t>
            </a:r>
            <a:r>
              <a:rPr lang="en-US" sz="211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0">
                <a:solidFill>
                  <a:srgbClr val="EEF2F6"/>
                </a:solidFill>
                <a:latin typeface="Noto Sans KR"/>
                <a:ea typeface="Noto Sans KR"/>
              </a:rPr>
              <a:t>개방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435" y="3316012"/>
            <a:ext cx="3296066" cy="4013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다음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진입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때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격자</a:t>
            </a:r>
            <a:r>
              <a:rPr lang="en-US" sz="210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6" b="0">
                <a:solidFill>
                  <a:srgbClr val="EEF2F6"/>
                </a:solidFill>
                <a:latin typeface="Noto Sans KR"/>
                <a:ea typeface="Noto Sans KR"/>
              </a:rPr>
              <a:t>반영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053" y="3935594"/>
            <a:ext cx="4421918" cy="25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구멍은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내부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판을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통과하는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개방입니다</a:t>
            </a:r>
            <a:r>
              <a:rPr lang="en-US" sz="1353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외부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배기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팬</a:t>
            </a:r>
            <a:r>
              <a:rPr lang="en-US" sz="1353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53" b="0">
                <a:solidFill>
                  <a:srgbClr val="A9B9CC"/>
                </a:solidFill>
                <a:latin typeface="Noto Sans KR"/>
                <a:ea typeface="Noto Sans KR"/>
              </a:rPr>
              <a:t>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705" y="4202387"/>
            <a:ext cx="2265896" cy="2567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경계는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구현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범위가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아닙니다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7656" y="6139186"/>
            <a:ext cx="3043076" cy="25624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방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크기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높이</a:t>
            </a:r>
            <a:r>
              <a:rPr lang="en-US" sz="1345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판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구멍</a:t>
            </a:r>
            <a:r>
              <a:rPr lang="en-US" sz="1345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C9D6E3"/>
                </a:solidFill>
                <a:latin typeface="Noto Sans KR"/>
                <a:ea typeface="Noto Sans KR"/>
              </a:rPr>
              <a:t>이동</a:t>
            </a:r>
            <a:r>
              <a:rPr lang="en-US" sz="1345" b="0">
                <a:solidFill>
                  <a:srgbClr val="C9D6E3"/>
                </a:solidFill>
                <a:latin typeface="Noto Sans KR"/>
                <a:ea typeface="Noto Sans KR"/>
              </a:rPr>
              <a:t> → Undo</a:t>
            </a:r>
          </a:p>
        </p:txBody>
      </p:sp>
      <p:pic>
        <p:nvPicPr>
          <p:cNvPr id="17" name="실제 화면" descr="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0" y="1917700"/>
            <a:ext cx="5575300" cy="3130550"/>
          </a:xfrm>
          <a:prstGeom prst="roundRect">
            <a:avLst>
              <a:gd name="adj" fmla="val 2600"/>
            </a:avLst>
          </a:prstGeom>
        </p:spPr>
      </p:pic>
      <p:sp>
        <p:nvSpPr>
          <p:cNvPr id="18" name="캡션"/>
          <p:cNvSpPr txBox="1"/>
          <p:nvPr/>
        </p:nvSpPr>
        <p:spPr>
          <a:xfrm>
            <a:off x="5797550" y="5124450"/>
            <a:ext cx="5575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ko-KR" sz="1100" b="0">
                <a:solidFill>
                  <a:srgbClr val="A9B9CC"/>
                </a:solidFill>
                <a:latin typeface="Noto Sans KR"/>
                <a:ea typeface="Noto Sans KR"/>
              </a:rPr>
              <a:t>천장 판(초록)과 구멍 1번 선택 · 작은 화면: 방 범위 편집 미리보기(주황 윤곽) · 2026. 10. 10 촬영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0736" y="1140728"/>
            <a:ext cx="4416819" cy="59304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  <a:r>
              <a:rPr lang="en-US" sz="3113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케이블</a:t>
            </a:r>
            <a:r>
              <a:rPr lang="en-US" sz="311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연결과</a:t>
            </a:r>
            <a:r>
              <a:rPr lang="en-US" sz="311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13" b="1">
                <a:solidFill>
                  <a:srgbClr val="EEF2F6"/>
                </a:solidFill>
                <a:latin typeface="Noto Sans KR"/>
                <a:ea typeface="Noto Sans KR"/>
              </a:rPr>
              <a:t>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9536" y="1943552"/>
            <a:ext cx="2573540" cy="41070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5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55" b="0">
                <a:solidFill>
                  <a:srgbClr val="EEF2F6"/>
                </a:solidFill>
                <a:latin typeface="Noto Sans KR"/>
                <a:ea typeface="Noto Sans KR"/>
              </a:rPr>
              <a:t>–CDU </a:t>
            </a:r>
            <a:r>
              <a:rPr lang="ko-KR" sz="2155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215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5" b="0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9536" y="2518155"/>
            <a:ext cx="3025458" cy="4062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32" b="0">
                <a:solidFill>
                  <a:srgbClr val="EEF2F6"/>
                </a:solidFill>
                <a:latin typeface="Noto Sans KR"/>
                <a:ea typeface="Noto Sans KR"/>
              </a:rPr>
              <a:t>–</a:t>
            </a:r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스파인</a:t>
            </a:r>
            <a:r>
              <a:rPr lang="en-US" sz="213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데이터</a:t>
            </a:r>
            <a:r>
              <a:rPr lang="en-US" sz="213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2" b="0">
                <a:solidFill>
                  <a:srgbClr val="EEF2F6"/>
                </a:solidFill>
                <a:latin typeface="Noto Sans KR"/>
                <a:ea typeface="Noto Sans KR"/>
              </a:rPr>
              <a:t>케이블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9060" y="3081048"/>
            <a:ext cx="2966654" cy="4014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변경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시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경로</a:t>
            </a:r>
            <a:r>
              <a:rPr lang="en-US" sz="210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7" b="0">
                <a:solidFill>
                  <a:srgbClr val="EEF2F6"/>
                </a:solidFill>
                <a:latin typeface="Noto Sans KR"/>
                <a:ea typeface="Noto Sans KR"/>
              </a:rPr>
              <a:t>재구성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7631" y="3651415"/>
            <a:ext cx="3531322" cy="4138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포트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점유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미연결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간섭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4222277"/>
            <a:ext cx="4500500" cy="25939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배선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계획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진단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기능입니다</a:t>
            </a:r>
            <a:r>
              <a:rPr lang="en-US" sz="1361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모든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장애물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자동</a:t>
            </a:r>
            <a:r>
              <a:rPr lang="en-US" sz="1361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회피</a:t>
            </a:r>
            <a:r>
              <a:rPr lang="en-US" sz="1361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61" b="0">
                <a:solidFill>
                  <a:srgbClr val="A9B9CC"/>
                </a:solidFill>
                <a:latin typeface="Noto Sans KR"/>
                <a:ea typeface="Noto Sans KR"/>
              </a:rPr>
              <a:t>케이블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53" y="4488921"/>
            <a:ext cx="2915435" cy="26004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굽힘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장력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계산은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포함하지</a:t>
            </a:r>
            <a:r>
              <a:rPr lang="en-US" sz="13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5" b="0">
                <a:solidFill>
                  <a:srgbClr val="A9B9CC"/>
                </a:solidFill>
                <a:latin typeface="Noto Sans KR"/>
                <a:ea typeface="Noto Sans KR"/>
              </a:rPr>
              <a:t>않습니다</a:t>
            </a:r>
            <a:r>
              <a:rPr lang="en-US" sz="1365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0831" y="6137635"/>
            <a:ext cx="3990567" cy="25532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랙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후면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연결</a:t>
            </a:r>
            <a:r>
              <a:rPr lang="en-US" sz="1340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패치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맵</a:t>
            </a:r>
            <a:r>
              <a:rPr lang="en-US" sz="1340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케이블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포트</a:t>
            </a:r>
            <a:r>
              <a:rPr lang="en-US" sz="1340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선택</a:t>
            </a:r>
            <a:r>
              <a:rPr lang="en-US" sz="1340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0" b="0">
                <a:solidFill>
                  <a:srgbClr val="C9D6E3"/>
                </a:solidFill>
                <a:latin typeface="Noto Sans KR"/>
                <a:ea typeface="Noto Sans KR"/>
              </a:rPr>
              <a:t>닫기</a:t>
            </a:r>
          </a:p>
        </p:txBody>
      </p:sp>
      <p:pic>
        <p:nvPicPr>
          <p:cNvPr id="17" name="실제 화면" descr="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0" y="1917700"/>
            <a:ext cx="5575300" cy="3130550"/>
          </a:xfrm>
          <a:prstGeom prst="roundRect">
            <a:avLst>
              <a:gd name="adj" fmla="val 2600"/>
            </a:avLst>
          </a:prstGeom>
        </p:spPr>
      </p:pic>
      <p:sp>
        <p:nvSpPr>
          <p:cNvPr id="18" name="캡션"/>
          <p:cNvSpPr txBox="1"/>
          <p:nvPr/>
        </p:nvSpPr>
        <p:spPr>
          <a:xfrm>
            <a:off x="5797550" y="5124450"/>
            <a:ext cx="5575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ko-KR" sz="1100" b="0">
                <a:solidFill>
                  <a:srgbClr val="A9B9CC"/>
                </a:solidFill>
                <a:latin typeface="Noto Sans KR"/>
                <a:ea typeface="Noto Sans KR"/>
              </a:rPr>
              <a:t>패치 맵 · 케이블 1번 선택(노랑): 랙 포트 8 → 스파인 포트 1, 계획 길이 8.7 m · 2026. 10. 10 촬영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307" y="1142705"/>
            <a:ext cx="5112669" cy="5992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부하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통합</a:t>
            </a:r>
            <a:r>
              <a:rPr lang="en-US" sz="314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45" b="1">
                <a:solidFill>
                  <a:srgbClr val="EEF2F6"/>
                </a:solidFill>
                <a:latin typeface="Noto Sans KR"/>
                <a:ea typeface="Noto Sans KR"/>
              </a:rPr>
              <a:t>반응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081" y="2139047"/>
            <a:ext cx="585316" cy="40401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1">
                <a:solidFill>
                  <a:srgbClr val="D6E1EC"/>
                </a:solidFill>
                <a:latin typeface="Noto Sans KR"/>
                <a:ea typeface="Noto Sans KR"/>
              </a:rPr>
              <a:t>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430" y="2569992"/>
            <a:ext cx="1198844" cy="3308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부하율</a:t>
            </a:r>
            <a:r>
              <a:rPr lang="en-US" sz="17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430" y="2970048"/>
            <a:ext cx="1198619" cy="33083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펌프</a:t>
            </a:r>
            <a:r>
              <a:rPr lang="en-US" sz="17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6" b="0">
                <a:solidFill>
                  <a:srgbClr val="EEF2F6"/>
                </a:solidFill>
                <a:latin typeface="Noto Sans KR"/>
                <a:ea typeface="Noto Sans KR"/>
              </a:rPr>
              <a:t>회전수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05" y="3363880"/>
            <a:ext cx="1464900" cy="32939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9" b="0">
                <a:solidFill>
                  <a:srgbClr val="EEF2F6"/>
                </a:solidFill>
                <a:latin typeface="Noto Sans KR"/>
                <a:ea typeface="Noto Sans KR"/>
              </a:rPr>
              <a:t>서버</a:t>
            </a:r>
            <a:r>
              <a:rPr lang="en-US" sz="172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29" b="0">
                <a:solidFill>
                  <a:srgbClr val="EEF2F6"/>
                </a:solidFill>
                <a:latin typeface="Noto Sans KR"/>
                <a:ea typeface="Noto Sans KR"/>
              </a:rPr>
              <a:t>유닛</a:t>
            </a:r>
            <a:r>
              <a:rPr lang="en-US" sz="172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29" b="0">
                <a:solidFill>
                  <a:srgbClr val="EEF2F6"/>
                </a:solidFill>
                <a:latin typeface="Noto Sans KR"/>
                <a:ea typeface="Noto Sans KR"/>
              </a:rPr>
              <a:t>탈착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7578" y="2137826"/>
            <a:ext cx="588576" cy="4064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3" b="1">
                <a:solidFill>
                  <a:srgbClr val="3FC1D9"/>
                </a:solidFill>
                <a:latin typeface="Noto Sans KR"/>
                <a:ea typeface="Noto Sans KR"/>
              </a:rPr>
              <a:t>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958" y="2572055"/>
            <a:ext cx="1806726" cy="3378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73" b="0">
                <a:solidFill>
                  <a:srgbClr val="EEF2F6"/>
                </a:solidFill>
                <a:latin typeface="Noto Sans KR"/>
                <a:ea typeface="Noto Sans KR"/>
              </a:rPr>
              <a:t>발열</a:t>
            </a:r>
            <a:r>
              <a:rPr lang="en-US" sz="1773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1773" b="0">
                <a:solidFill>
                  <a:srgbClr val="EEF2F6"/>
                </a:solidFill>
                <a:latin typeface="Noto Sans KR"/>
                <a:ea typeface="Noto Sans KR"/>
              </a:rPr>
              <a:t>부품</a:t>
            </a:r>
            <a:r>
              <a:rPr lang="en-US" sz="177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73" b="0">
                <a:solidFill>
                  <a:srgbClr val="EEF2F6"/>
                </a:solidFill>
                <a:latin typeface="Noto Sans KR"/>
                <a:ea typeface="Noto Sans KR"/>
              </a:rPr>
              <a:t>열용량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2657" y="2970095"/>
            <a:ext cx="1905908" cy="3303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네트워크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유량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1705" y="3366048"/>
            <a:ext cx="2075754" cy="3363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176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흐름</a:t>
            </a:r>
            <a:r>
              <a:rPr lang="en-US" sz="1765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흡기</a:t>
            </a:r>
            <a:r>
              <a:rPr lang="en-US" sz="176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65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9631" y="2138578"/>
            <a:ext cx="592407" cy="40937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48" b="1">
                <a:solidFill>
                  <a:srgbClr val="F2A65E"/>
                </a:solidFill>
                <a:latin typeface="Noto Sans KR"/>
                <a:ea typeface="Noto Sans KR"/>
              </a:rPr>
              <a:t>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9155" y="2570054"/>
            <a:ext cx="2177252" cy="3302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시간에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따른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  <a:r>
              <a:rPr lang="en-US" sz="173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33" b="0">
                <a:solidFill>
                  <a:srgbClr val="EEF2F6"/>
                </a:solidFill>
                <a:latin typeface="Noto Sans KR"/>
                <a:ea typeface="Noto Sans KR"/>
              </a:rPr>
              <a:t>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408" y="2975062"/>
            <a:ext cx="1797871" cy="33613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64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1764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1764" b="0">
                <a:solidFill>
                  <a:srgbClr val="EEF2F6"/>
                </a:solidFill>
                <a:latin typeface="Noto Sans KR"/>
                <a:ea typeface="Noto Sans KR"/>
              </a:rPr>
              <a:t>흡기</a:t>
            </a:r>
            <a:r>
              <a:rPr lang="en-US" sz="1764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1764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530" y="4208156"/>
            <a:ext cx="6145984" cy="40372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정해진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애니메이션이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아니라</a:t>
            </a:r>
            <a:r>
              <a:rPr lang="en-US" sz="2119" b="1">
                <a:solidFill>
                  <a:srgbClr val="EEF2F6"/>
                </a:solidFill>
                <a:latin typeface="Noto Sans KR"/>
                <a:ea typeface="Noto Sans KR"/>
              </a:rPr>
              <a:t>,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모델이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만든</a:t>
            </a:r>
            <a:r>
              <a:rPr lang="en-US" sz="2119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9" b="1">
                <a:solidFill>
                  <a:srgbClr val="EEF2F6"/>
                </a:solidFill>
                <a:latin typeface="Noto Sans KR"/>
                <a:ea typeface="Noto Sans KR"/>
              </a:rPr>
              <a:t>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53" y="4901977"/>
            <a:ext cx="6887491" cy="25654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부하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펌프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조절은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모든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랙에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함께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적용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유닛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탈착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(E)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은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바라보는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유닛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하나에만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적용됩니다</a:t>
            </a:r>
            <a:r>
              <a:rPr lang="en-US" sz="1346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8132" y="6142292"/>
            <a:ext cx="3418260" cy="251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21" b="0">
                <a:solidFill>
                  <a:srgbClr val="C9D6E3"/>
                </a:solidFill>
                <a:latin typeface="Noto Sans KR"/>
                <a:ea typeface="Noto Sans KR"/>
              </a:rPr>
              <a:t>Enter →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부하</a:t>
            </a:r>
            <a:r>
              <a:rPr lang="en-US" sz="132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변경</a:t>
            </a:r>
            <a:r>
              <a:rPr lang="en-US" sz="1321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펌프</a:t>
            </a:r>
            <a:r>
              <a:rPr lang="en-US" sz="132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조절</a:t>
            </a:r>
            <a:r>
              <a:rPr lang="en-US" sz="1321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유닛</a:t>
            </a:r>
            <a:r>
              <a:rPr lang="en-US" sz="1321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21" b="0">
                <a:solidFill>
                  <a:srgbClr val="C9D6E3"/>
                </a:solidFill>
                <a:latin typeface="Noto Sans KR"/>
                <a:ea typeface="Noto Sans KR"/>
              </a:rPr>
              <a:t>탈착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307" y="1137245"/>
            <a:ext cx="4244824" cy="6024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  <a:r>
              <a:rPr lang="en-US" sz="3162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기류</a:t>
            </a:r>
            <a:r>
              <a:rPr lang="en-US" sz="3162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분기관</a:t>
            </a:r>
            <a:r>
              <a:rPr lang="en-US" sz="3162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62" b="1">
                <a:solidFill>
                  <a:srgbClr val="EEF2F6"/>
                </a:solidFill>
                <a:latin typeface="Noto Sans KR"/>
                <a:ea typeface="Noto Sans KR"/>
              </a:rPr>
              <a:t>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403" y="1970293"/>
            <a:ext cx="2226708" cy="40701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36" b="0">
                <a:solidFill>
                  <a:srgbClr val="EEF2F6"/>
                </a:solidFill>
                <a:latin typeface="Noto Sans KR"/>
                <a:ea typeface="Noto Sans KR"/>
              </a:rPr>
              <a:t>3D </a:t>
            </a:r>
            <a:r>
              <a:rPr lang="ko-KR" sz="2136" b="0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21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6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  <a:r>
              <a:rPr lang="en-US" sz="213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36" b="0">
                <a:solidFill>
                  <a:srgbClr val="EEF2F6"/>
                </a:solidFill>
                <a:latin typeface="Noto Sans KR"/>
                <a:ea typeface="Noto Sans KR"/>
              </a:rPr>
              <a:t>볼륨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2831" y="2420414"/>
            <a:ext cx="3187024" cy="40402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속도장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기반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움직이는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무늬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736" y="2864512"/>
            <a:ext cx="3116337" cy="4084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공급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회수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분기관</a:t>
            </a:r>
            <a:r>
              <a:rPr lang="en-US" sz="2143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3" b="0">
                <a:solidFill>
                  <a:srgbClr val="EEF2F6"/>
                </a:solidFill>
                <a:latin typeface="Noto Sans KR"/>
                <a:ea typeface="Noto Sans KR"/>
              </a:rPr>
              <a:t>온도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7880" y="3484852"/>
            <a:ext cx="4611937" cy="25660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기류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무늬는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이해를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돕는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시각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표현으로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실제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유선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입자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궤적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3751361"/>
            <a:ext cx="4786439" cy="25869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이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아닙니다</a:t>
            </a:r>
            <a:r>
              <a:rPr lang="en-US" sz="1357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배관은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랙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분기관만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표시</a:t>
            </a:r>
            <a:r>
              <a:rPr lang="en-US" sz="1357" b="0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헤더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펌프는</a:t>
            </a:r>
            <a:r>
              <a:rPr lang="en-US" sz="135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57" b="0">
                <a:solidFill>
                  <a:srgbClr val="A9B9CC"/>
                </a:solidFill>
                <a:latin typeface="Noto Sans KR"/>
                <a:ea typeface="Noto Sans KR"/>
              </a:rPr>
              <a:t>회색</a:t>
            </a:r>
            <a:r>
              <a:rPr lang="en-US" sz="1357" b="0">
                <a:solidFill>
                  <a:srgbClr val="A9B9CC"/>
                </a:solidFill>
                <a:latin typeface="Noto Sans KR"/>
                <a:ea typeface="Noto Sans KR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703" y="6142071"/>
            <a:ext cx="5064541" cy="25420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온도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볼륨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관찰</a:t>
            </a:r>
            <a:r>
              <a:rPr lang="en-US" sz="1334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기류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무늬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끄기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켜기</a:t>
            </a:r>
            <a:r>
              <a:rPr lang="en-US" sz="1334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분기관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온도</a:t>
            </a:r>
            <a:r>
              <a:rPr lang="en-US" sz="1334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기본</a:t>
            </a:r>
            <a:r>
              <a:rPr lang="en-US" sz="1334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34" b="0">
                <a:solidFill>
                  <a:srgbClr val="C9D6E3"/>
                </a:solidFill>
                <a:latin typeface="Noto Sans KR"/>
                <a:ea typeface="Noto Sans KR"/>
              </a:rPr>
              <a:t>복귀</a:t>
            </a:r>
          </a:p>
        </p:txBody>
      </p:sp>
      <p:pic>
        <p:nvPicPr>
          <p:cNvPr id="16" name="실제 화면" descr="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0" y="1917700"/>
            <a:ext cx="5575300" cy="3130550"/>
          </a:xfrm>
          <a:prstGeom prst="roundRect">
            <a:avLst>
              <a:gd name="adj" fmla="val 2600"/>
            </a:avLst>
          </a:prstGeom>
        </p:spPr>
      </p:pic>
      <p:sp>
        <p:nvSpPr>
          <p:cNvPr id="17" name="캡션"/>
          <p:cNvSpPr txBox="1"/>
          <p:nvPr/>
        </p:nvSpPr>
        <p:spPr>
          <a:xfrm>
            <a:off x="5797550" y="5124450"/>
            <a:ext cx="5575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ko-KR" sz="1100" b="0">
                <a:solidFill>
                  <a:srgbClr val="A9B9CC"/>
                </a:solidFill>
                <a:latin typeface="Noto Sans KR"/>
                <a:ea typeface="Noto Sans KR"/>
              </a:rPr>
              <a:t>32랙 기본 구성, 30초 계산 · 색 범위는 현재 공기 온도에 맞춰 자동 조정 · 2026. 10. 10 촬영</a:t>
            </a:r>
          </a:p>
        </p:txBody>
      </p:sp>
      <p:sp>
        <p:nvSpPr>
          <p:cNvPr id="18" name="범례"/>
          <p:cNvSpPr/>
          <p:nvPr/>
        </p:nvSpPr>
        <p:spPr>
          <a:xfrm>
            <a:off x="9467850" y="4743450"/>
            <a:ext cx="1143000" cy="88900"/>
          </a:xfrm>
          <a:prstGeom prst="rect">
            <a:avLst/>
          </a:prstGeom>
          <a:gradFill rotWithShape="1">
            <a:gsLst>
              <a:gs pos="0">
                <a:srgbClr val="2F6BFF"/>
              </a:gs>
              <a:gs pos="25000">
                <a:srgbClr val="35C8E8"/>
              </a:gs>
              <a:gs pos="50000">
                <a:srgbClr val="4CD964"/>
              </a:gs>
              <a:gs pos="75000">
                <a:srgbClr val="F5D54A"/>
              </a:gs>
              <a:gs pos="100000">
                <a:srgbClr val="F0453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6050" y="4679950"/>
            <a:ext cx="381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A2333"/>
                </a:solidFill>
                <a:latin typeface="Noto Sans KR"/>
                <a:ea typeface="Noto Sans KR"/>
              </a:rPr>
              <a:t>낮음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1650" y="4679950"/>
            <a:ext cx="381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2333"/>
                </a:solidFill>
                <a:latin typeface="Noto Sans KR"/>
                <a:ea typeface="Noto Sans KR"/>
              </a:rPr>
              <a:t>높음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5481"/>
            <a:ext cx="1170134" cy="2993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571" b="1">
                <a:solidFill>
                  <a:srgbClr val="3FC1D9"/>
                </a:solidFill>
                <a:latin typeface="Noto Sans KR"/>
                <a:ea typeface="Noto Sans KR"/>
              </a:rPr>
              <a:t>기능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705" y="1137690"/>
            <a:ext cx="5094278" cy="59710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저장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가상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센서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평가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831" y="1969121"/>
            <a:ext cx="1988143" cy="4088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46" b="0">
                <a:solidFill>
                  <a:srgbClr val="EEF2F6"/>
                </a:solidFill>
                <a:latin typeface="Noto Sans KR"/>
                <a:ea typeface="Noto Sans KR"/>
              </a:rPr>
              <a:t>구성</a:t>
            </a:r>
            <a:r>
              <a:rPr lang="en-US" sz="214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46" b="0">
                <a:solidFill>
                  <a:srgbClr val="EEF2F6"/>
                </a:solidFill>
                <a:latin typeface="Noto Sans KR"/>
                <a:ea typeface="Noto Sans KR"/>
              </a:rPr>
              <a:t>저장</a:t>
            </a:r>
            <a:r>
              <a:rPr lang="en-US" sz="2146" b="0">
                <a:solidFill>
                  <a:srgbClr val="EEF2F6"/>
                </a:solidFill>
                <a:latin typeface="Noto Sans KR"/>
                <a:ea typeface="Noto Sans KR"/>
              </a:rPr>
              <a:t> / </a:t>
            </a:r>
            <a:r>
              <a:rPr lang="ko-KR" sz="2146" b="0">
                <a:solidFill>
                  <a:srgbClr val="EEF2F6"/>
                </a:solidFill>
                <a:latin typeface="Noto Sans KR"/>
                <a:ea typeface="Noto Sans KR"/>
              </a:rPr>
              <a:t>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657" y="2419435"/>
            <a:ext cx="3622606" cy="4146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가상</a:t>
            </a:r>
            <a:r>
              <a:rPr lang="en-US" sz="217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센서</a:t>
            </a:r>
            <a:r>
              <a:rPr lang="en-US" sz="2176" b="0">
                <a:solidFill>
                  <a:srgbClr val="EEF2F6"/>
                </a:solidFill>
                <a:latin typeface="Noto Sans KR"/>
                <a:ea typeface="Noto Sans KR"/>
              </a:rPr>
              <a:t>: 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지연</a:t>
            </a:r>
            <a:r>
              <a:rPr lang="en-US" sz="217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샘플링</a:t>
            </a:r>
            <a:r>
              <a:rPr lang="en-US" sz="217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6" b="0">
                <a:solidFill>
                  <a:srgbClr val="EEF2F6"/>
                </a:solidFill>
                <a:latin typeface="Noto Sans KR"/>
                <a:ea typeface="Noto Sans KR"/>
              </a:rPr>
              <a:t>잡음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355" y="2864360"/>
            <a:ext cx="2909202" cy="4100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2" b="0">
                <a:solidFill>
                  <a:srgbClr val="EEF2F6"/>
                </a:solidFill>
                <a:latin typeface="Noto Sans KR"/>
                <a:ea typeface="Noto Sans KR"/>
              </a:rPr>
              <a:t>파일</a:t>
            </a:r>
            <a:r>
              <a:rPr lang="en-US" sz="215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2" b="0">
                <a:solidFill>
                  <a:srgbClr val="EEF2F6"/>
                </a:solidFill>
                <a:latin typeface="Noto Sans KR"/>
                <a:ea typeface="Noto Sans KR"/>
              </a:rPr>
              <a:t>리포트와</a:t>
            </a:r>
            <a:r>
              <a:rPr lang="en-US" sz="2152" b="0">
                <a:solidFill>
                  <a:srgbClr val="EEF2F6"/>
                </a:solidFill>
                <a:latin typeface="Noto Sans KR"/>
                <a:ea typeface="Noto Sans KR"/>
              </a:rPr>
              <a:t> A/B </a:t>
            </a:r>
            <a:r>
              <a:rPr lang="ko-KR" sz="2152" b="0">
                <a:solidFill>
                  <a:srgbClr val="EEF2F6"/>
                </a:solidFill>
                <a:latin typeface="Noto Sans KR"/>
                <a:ea typeface="Noto Sans KR"/>
              </a:rPr>
              <a:t>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053" y="3485176"/>
            <a:ext cx="4872027" cy="26512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부분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 PUE = (IT + CRAH 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팬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 + 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펌프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) ÷ IT. 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칠러</a:t>
            </a:r>
            <a:r>
              <a:rPr lang="en-US" sz="139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91" b="0">
                <a:solidFill>
                  <a:srgbClr val="A9B9CC"/>
                </a:solidFill>
                <a:latin typeface="Noto Sans KR"/>
                <a:ea typeface="Noto Sans KR"/>
              </a:rPr>
              <a:t>냉각탑</a:t>
            </a:r>
            <a:r>
              <a:rPr lang="en-US" sz="139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en-US" sz="1391" b="0">
                <a:solidFill>
                  <a:srgbClr val="A9B9CC"/>
                </a:solidFill>
                <a:latin typeface="Noto Sans KR"/>
                <a:ea typeface="Noto Sans KR"/>
              </a:rPr>
              <a:t>UPS</a:t>
            </a:r>
            <a:r>
              <a:rPr lang="en-US" sz="1391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006" y="3752588"/>
            <a:ext cx="4459122" cy="2569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배전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손실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조명이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빠져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있어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시설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전체</a:t>
            </a:r>
            <a:r>
              <a:rPr lang="en-US" sz="1349" b="0">
                <a:solidFill>
                  <a:srgbClr val="A9B9CC"/>
                </a:solidFill>
                <a:latin typeface="Noto Sans KR"/>
                <a:ea typeface="Noto Sans KR"/>
              </a:rPr>
              <a:t> PUE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와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비교할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수</a:t>
            </a:r>
            <a:r>
              <a:rPr lang="en-US" sz="1349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9" b="0">
                <a:solidFill>
                  <a:srgbClr val="A9B9CC"/>
                </a:solidFill>
                <a:latin typeface="Noto Sans KR"/>
                <a:ea typeface="Noto Sans KR"/>
              </a:rPr>
              <a:t>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53" y="4019348"/>
            <a:ext cx="3033459" cy="25630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습니다</a:t>
            </a:r>
            <a:r>
              <a:rPr lang="en-US" sz="1345" b="0">
                <a:solidFill>
                  <a:srgbClr val="A9B9CC"/>
                </a:solidFill>
                <a:latin typeface="Noto Sans KR"/>
                <a:ea typeface="Noto Sans KR"/>
              </a:rPr>
              <a:t>.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웹</a:t>
            </a:r>
            <a:r>
              <a:rPr lang="en-US" sz="134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대시보드는</a:t>
            </a:r>
            <a:r>
              <a:rPr lang="en-US" sz="134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향후</a:t>
            </a:r>
            <a:r>
              <a:rPr lang="en-US" sz="134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5" b="0">
                <a:solidFill>
                  <a:srgbClr val="A9B9CC"/>
                </a:solidFill>
                <a:latin typeface="Noto Sans KR"/>
                <a:ea typeface="Noto Sans KR"/>
              </a:rPr>
              <a:t>계획입니다</a:t>
            </a:r>
            <a:r>
              <a:rPr lang="en-US" sz="1345" b="0">
                <a:solidFill>
                  <a:srgbClr val="A9B9CC"/>
                </a:solidFill>
                <a:latin typeface="Noto Sans KR"/>
                <a:ea typeface="Noto Sans K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9852" y="6141243"/>
            <a:ext cx="1495094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실제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프로그램</a:t>
            </a:r>
            <a:r>
              <a:rPr lang="en-US" sz="1350" b="1">
                <a:solidFill>
                  <a:srgbClr val="F2A65E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F2A65E"/>
                </a:solidFill>
                <a:latin typeface="Noto Sans KR"/>
                <a:ea typeface="Noto Sans KR"/>
              </a:rPr>
              <a:t>시연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1307" y="6140285"/>
            <a:ext cx="4853499" cy="25587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리포트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저장</a:t>
            </a:r>
            <a:r>
              <a:rPr lang="en-US" sz="1343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실제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리포트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확인</a:t>
            </a:r>
            <a:r>
              <a:rPr lang="en-US" sz="1343" b="0">
                <a:solidFill>
                  <a:srgbClr val="C9D6E3"/>
                </a:solidFill>
                <a:latin typeface="Noto Sans KR"/>
                <a:ea typeface="Noto Sans KR"/>
              </a:rPr>
              <a:t> → A/B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비교</a:t>
            </a:r>
            <a:r>
              <a:rPr lang="en-US" sz="1343" b="0">
                <a:solidFill>
                  <a:srgbClr val="C9D6E3"/>
                </a:solidFill>
                <a:latin typeface="Noto Sans KR"/>
                <a:ea typeface="Noto Sans KR"/>
              </a:rPr>
              <a:t> →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배치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저장</a:t>
            </a:r>
            <a:r>
              <a:rPr lang="en-US" sz="1343" b="0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43" b="0">
                <a:solidFill>
                  <a:srgbClr val="C9D6E3"/>
                </a:solidFill>
                <a:latin typeface="Noto Sans KR"/>
                <a:ea typeface="Noto Sans KR"/>
              </a:rPr>
              <a:t>복원</a:t>
            </a:r>
          </a:p>
        </p:txBody>
      </p:sp>
      <p:graphicFrame>
        <p:nvGraphicFramePr>
          <p:cNvPr id="17" name="A/B 비교 리포트"/>
          <p:cNvGraphicFramePr>
            <a:graphicFrameLocks noGrp="1"/>
          </p:cNvGraphicFramePr>
          <p:nvPr/>
        </p:nvGraphicFramePr>
        <p:xfrm>
          <a:off x="5797550" y="1917700"/>
          <a:ext cx="5575300" cy="313054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95602"/>
                <a:gridCol w="1226566"/>
                <a:gridCol w="1338072"/>
                <a:gridCol w="1115060"/>
              </a:tblGrid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FC1D9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101600" marR="101600" marT="0" marB="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3FC1D9"/>
                          </a:solidFill>
                          <a:latin typeface="Noto Sans KR"/>
                          <a:ea typeface="Noto Sans KR"/>
                        </a:rPr>
                        <a:t>A 차단 없음</a:t>
                      </a:r>
                    </a:p>
                  </a:txBody>
                  <a:tcPr marL="101600" marR="101600" marT="0" marB="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3FC1D9"/>
                          </a:solidFill>
                          <a:latin typeface="Noto Sans KR"/>
                          <a:ea typeface="Noto Sans KR"/>
                        </a:rPr>
                        <a:t>B 블랭킹+지붕</a:t>
                      </a:r>
                    </a:p>
                  </a:txBody>
                  <a:tcPr marL="101600" marR="101600" marT="0" marB="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3FC1D9"/>
                          </a:solidFill>
                          <a:latin typeface="Noto Sans KR"/>
                          <a:ea typeface="Noto Sans KR"/>
                        </a:rPr>
                        <a:t>B − A</a:t>
                      </a:r>
                    </a:p>
                  </a:txBody>
                  <a:tcPr marL="101600" marR="101600" marT="0" marB="0" anchor="ctr">
                    <a:solidFill>
                      <a:srgbClr val="1B2D48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흡기 온도 최고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31.0 °C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23.9 °C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2A65E"/>
                          </a:solidFill>
                          <a:latin typeface="Noto Sans KR"/>
                          <a:ea typeface="Noto Sans KR"/>
                        </a:rPr>
                        <a:t>-7.1 °C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흡기 온도 평균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26.4 °C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23.5 °C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-2.9 °C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권장 27 °C 초과 흡기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9곳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0곳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2A65E"/>
                          </a:solidFill>
                          <a:latin typeface="Noto Sans KR"/>
                          <a:ea typeface="Noto Sans KR"/>
                        </a:rPr>
                        <a:t>-9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가상 센서 경보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12곳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0곳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F2A65E"/>
                          </a:solidFill>
                          <a:latin typeface="Noto Sans KR"/>
                          <a:ea typeface="Noto Sans KR"/>
                        </a:rPr>
                        <a:t>-12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IT 전력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3,781 kW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3,773 kW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-8.8 kW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CRAH 팬 + 펌프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37.3 kW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37.3 kW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0.0 kW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부분 PUE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1.010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1.010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0.000</a:t>
                      </a:r>
                    </a:p>
                  </a:txBody>
                  <a:tcPr marL="101600" marR="101600" marT="0" marB="0" anchor="ctr">
                    <a:solidFill>
                      <a:srgbClr val="13223A"/>
                    </a:solidFill>
                  </a:tcPr>
                </a:tc>
              </a:tr>
              <a:tr h="34783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EEF2F6"/>
                          </a:solidFill>
                          <a:latin typeface="Noto Sans KR"/>
                          <a:ea typeface="Noto Sans KR"/>
                        </a:rPr>
                        <a:t>열 장부 오차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4.5e-14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4.9e-14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C9D6E3"/>
                          </a:solidFill>
                          <a:latin typeface="Noto Sans KR"/>
                          <a:ea typeface="Noto Sans KR"/>
                        </a:rPr>
                        <a:t>둘 다 ≈ 0</a:t>
                      </a:r>
                    </a:p>
                  </a:txBody>
                  <a:tcPr marL="101600" marR="101600" marT="0" marB="0" anchor="ctr">
                    <a:solidFill>
                      <a:srgbClr val="0E1A2B"/>
                    </a:solidFill>
                  </a:tcPr>
                </a:tc>
              </a:tr>
            </a:tbl>
          </a:graphicData>
        </a:graphic>
      </p:graphicFrame>
      <p:sp>
        <p:nvSpPr>
          <p:cNvPr id="18" name="캡션"/>
          <p:cNvSpPr txBox="1"/>
          <p:nvPr/>
        </p:nvSpPr>
        <p:spPr>
          <a:xfrm>
            <a:off x="5797550" y="5124450"/>
            <a:ext cx="55753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ko-KR" sz="1100" b="0">
                <a:solidFill>
                  <a:srgbClr val="A9B9CC"/>
                </a:solidFill>
                <a:latin typeface="Noto Sans KR"/>
                <a:ea typeface="Noto Sans KR"/>
              </a:rPr>
              <a:t>실제 리포트 발췌 · 32랙, 조건별 300초 계산의 마지막 100초 평균 · Saved/Reports/AB_ppt_a_vs_ppt_b.md · 2026. 10.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7403" y="836872"/>
            <a:ext cx="1337923" cy="2826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83" b="1">
                <a:solidFill>
                  <a:srgbClr val="3FC1D9"/>
                </a:solidFill>
                <a:latin typeface="Noto Sans KR"/>
                <a:ea typeface="Noto Sans KR"/>
              </a:rPr>
              <a:t>기술</a:t>
            </a:r>
            <a:r>
              <a:rPr lang="en-US" sz="1483" b="1">
                <a:solidFill>
                  <a:srgbClr val="3FC1D9"/>
                </a:solidFill>
                <a:latin typeface="Segoe UI"/>
                <a:ea typeface="Segoe UI"/>
              </a:rPr>
              <a:t>·</a:t>
            </a:r>
            <a:r>
              <a:rPr lang="ko-KR" sz="1483" b="1">
                <a:solidFill>
                  <a:srgbClr val="3FC1D9"/>
                </a:solidFill>
                <a:latin typeface="Noto Sans KR"/>
                <a:ea typeface="Noto Sans KR"/>
              </a:rPr>
              <a:t>검증</a:t>
            </a:r>
            <a:r>
              <a:rPr lang="en-US" sz="1483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83" b="1">
                <a:solidFill>
                  <a:srgbClr val="3FC1D9"/>
                </a:solidFill>
                <a:latin typeface="Noto Sans KR"/>
                <a:ea typeface="Noto Sans KR"/>
              </a:rPr>
              <a:t>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8355" y="1138609"/>
            <a:ext cx="7598951" cy="5860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화면뿐</a:t>
            </a:r>
            <a:r>
              <a:rPr lang="en-US" sz="3076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아니라</a:t>
            </a:r>
            <a:r>
              <a:rPr lang="en-US" sz="3076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자동화</a:t>
            </a:r>
            <a:r>
              <a:rPr lang="en-US" sz="3076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검사와</a:t>
            </a:r>
            <a:r>
              <a:rPr lang="en-US" sz="3076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열</a:t>
            </a:r>
            <a:r>
              <a:rPr lang="en-US" sz="3076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장부로</a:t>
            </a:r>
            <a:r>
              <a:rPr lang="en-US" sz="3076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76" b="1">
                <a:solidFill>
                  <a:srgbClr val="EEF2F6"/>
                </a:solidFill>
                <a:latin typeface="Noto Sans KR"/>
                <a:ea typeface="Noto Sans KR"/>
              </a:rPr>
              <a:t>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908" y="2172271"/>
            <a:ext cx="1667318" cy="83735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395" b="1">
                <a:solidFill>
                  <a:srgbClr val="3FC1D9"/>
                </a:solidFill>
                <a:latin typeface="Noto Sans KR"/>
                <a:ea typeface="Noto Sans KR"/>
              </a:rPr>
              <a:t>222</a:t>
            </a:r>
            <a:r>
              <a:rPr lang="ko-KR" sz="4395" b="1">
                <a:solidFill>
                  <a:srgbClr val="3FC1D9"/>
                </a:solidFill>
                <a:latin typeface="Noto Sans KR"/>
                <a:ea typeface="Noto Sans KR"/>
              </a:rPr>
              <a:t>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352" y="2931891"/>
            <a:ext cx="2045975" cy="4026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3" b="1">
                <a:solidFill>
                  <a:srgbClr val="EEF2F6"/>
                </a:solidFill>
                <a:latin typeface="Noto Sans KR"/>
                <a:ea typeface="Noto Sans KR"/>
              </a:rPr>
              <a:t>자동화</a:t>
            </a:r>
            <a:r>
              <a:rPr lang="en-US" sz="211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1">
                <a:solidFill>
                  <a:srgbClr val="EEF2F6"/>
                </a:solidFill>
                <a:latin typeface="Noto Sans KR"/>
                <a:ea typeface="Noto Sans KR"/>
              </a:rPr>
              <a:t>검사</a:t>
            </a:r>
            <a:r>
              <a:rPr lang="en-US" sz="211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3" b="1">
                <a:solidFill>
                  <a:srgbClr val="EEF2F6"/>
                </a:solidFill>
                <a:latin typeface="Noto Sans KR"/>
                <a:ea typeface="Noto Sans KR"/>
              </a:rPr>
              <a:t>성공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653" y="3541034"/>
            <a:ext cx="2039353" cy="2671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무경고</a:t>
            </a:r>
            <a:r>
              <a:rPr lang="en-US" sz="1402" b="0">
                <a:solidFill>
                  <a:srgbClr val="A9B9CC"/>
                </a:solidFill>
                <a:latin typeface="Noto Sans KR"/>
                <a:ea typeface="Noto Sans KR"/>
              </a:rPr>
              <a:t> 213 + </a:t>
            </a:r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경고</a:t>
            </a:r>
            <a:r>
              <a:rPr lang="en-US" sz="1402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402" b="0">
                <a:solidFill>
                  <a:srgbClr val="A9B9CC"/>
                </a:solidFill>
                <a:latin typeface="Noto Sans KR"/>
                <a:ea typeface="Noto Sans KR"/>
              </a:rPr>
              <a:t>동반</a:t>
            </a:r>
            <a:r>
              <a:rPr lang="en-US" sz="1402" b="0">
                <a:solidFill>
                  <a:srgbClr val="A9B9CC"/>
                </a:solidFill>
                <a:latin typeface="Noto Sans KR"/>
                <a:ea typeface="Noto Sans KR"/>
              </a:rPr>
              <a:t>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9653" y="3808704"/>
            <a:ext cx="1533348" cy="2565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고유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검사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종류</a:t>
            </a:r>
            <a:r>
              <a:rPr lang="en-US" sz="1346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6" b="0">
                <a:solidFill>
                  <a:srgbClr val="A9B9CC"/>
                </a:solidFill>
                <a:latin typeface="Noto Sans KR"/>
                <a:ea typeface="Noto Sans KR"/>
              </a:rPr>
              <a:t>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5770" y="2255948"/>
            <a:ext cx="3831505" cy="8009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204" b="1">
                <a:solidFill>
                  <a:srgbClr val="F2A65E"/>
                </a:solidFill>
                <a:latin typeface="Noto Sans KR"/>
                <a:ea typeface="Noto Sans KR"/>
              </a:rPr>
              <a:t>1.27 </a:t>
            </a:r>
            <a:r>
              <a:rPr lang="en-US" sz="4204" b="1">
                <a:solidFill>
                  <a:srgbClr val="F2A65E"/>
                </a:solidFill>
                <a:latin typeface="Segoe UI"/>
                <a:ea typeface="Segoe UI"/>
              </a:rPr>
              <a:t>×</a:t>
            </a:r>
            <a:r>
              <a:rPr lang="en-US" sz="4204" b="1">
                <a:solidFill>
                  <a:srgbClr val="F2A65E"/>
                </a:solidFill>
                <a:latin typeface="Noto Sans KR"/>
                <a:ea typeface="Noto Sans KR"/>
              </a:rPr>
              <a:t> 10⁻¹⁴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5455" y="2932020"/>
            <a:ext cx="2634031" cy="40115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전역</a:t>
            </a:r>
            <a:r>
              <a:rPr lang="en-US" sz="210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열수지</a:t>
            </a:r>
            <a:r>
              <a:rPr lang="en-US" sz="210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상대</a:t>
            </a:r>
            <a:r>
              <a:rPr lang="en-US" sz="2105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5" b="1">
                <a:solidFill>
                  <a:srgbClr val="EEF2F6"/>
                </a:solidFill>
                <a:latin typeface="Noto Sans KR"/>
                <a:ea typeface="Noto Sans KR"/>
              </a:rPr>
              <a:t>오차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1328" y="3541998"/>
            <a:ext cx="1703506" cy="2566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장부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일관성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8153" y="3809826"/>
            <a:ext cx="2248639" cy="2559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시설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정확도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지표는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아님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580" y="2182334"/>
            <a:ext cx="1883983" cy="83821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4400" b="1">
                <a:solidFill>
                  <a:srgbClr val="6FA8FF"/>
                </a:solidFill>
                <a:latin typeface="Noto Sans KR"/>
                <a:ea typeface="Noto Sans KR"/>
              </a:rPr>
              <a:t>Win64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1230" y="2933589"/>
            <a:ext cx="1778532" cy="40245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12" b="1">
                <a:solidFill>
                  <a:srgbClr val="EEF2F6"/>
                </a:solidFill>
                <a:latin typeface="Noto Sans KR"/>
                <a:ea typeface="Noto Sans KR"/>
              </a:rPr>
              <a:t>독립</a:t>
            </a:r>
            <a:r>
              <a:rPr lang="en-US" sz="2112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2" b="1">
                <a:solidFill>
                  <a:srgbClr val="EEF2F6"/>
                </a:solidFill>
                <a:latin typeface="Noto Sans KR"/>
                <a:ea typeface="Noto Sans KR"/>
              </a:rPr>
              <a:t>실행</a:t>
            </a:r>
            <a:r>
              <a:rPr lang="en-US" sz="2112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12" b="1">
                <a:solidFill>
                  <a:srgbClr val="EEF2F6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182" y="3542067"/>
            <a:ext cx="2138598" cy="25590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43" b="0">
                <a:solidFill>
                  <a:srgbClr val="A9B9CC"/>
                </a:solidFill>
                <a:latin typeface="Noto Sans KR"/>
                <a:ea typeface="Noto Sans KR"/>
              </a:rPr>
              <a:t>Development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패키징</a:t>
            </a:r>
            <a:r>
              <a:rPr lang="en-US" sz="1343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3" b="0">
                <a:solidFill>
                  <a:srgbClr val="A9B9CC"/>
                </a:solidFill>
                <a:latin typeface="Noto Sans KR"/>
                <a:ea typeface="Noto Sans KR"/>
              </a:rPr>
              <a:t>성공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1706" y="3809102"/>
            <a:ext cx="2098571" cy="2642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배치</a:t>
            </a:r>
            <a:r>
              <a:rPr lang="en-US" sz="138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lang="en-US" sz="138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저장</a:t>
            </a:r>
            <a:r>
              <a:rPr lang="en-US" sz="138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복원</a:t>
            </a:r>
            <a:r>
              <a:rPr lang="en-US" sz="138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87" b="0">
                <a:solidFill>
                  <a:srgbClr val="A9B9CC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052" y="4769543"/>
            <a:ext cx="3074928" cy="25837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측정</a:t>
            </a:r>
            <a:r>
              <a:rPr lang="en-US" sz="1356" b="1">
                <a:solidFill>
                  <a:srgbClr val="C9D6E3"/>
                </a:solidFill>
                <a:latin typeface="Segoe UI"/>
                <a:ea typeface="Segoe UI"/>
              </a:rPr>
              <a:t>·</a:t>
            </a:r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집계</a:t>
            </a:r>
            <a:r>
              <a:rPr lang="en-US" sz="1356" b="1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조건</a:t>
            </a:r>
            <a:r>
              <a:rPr lang="en-US" sz="1356" b="1">
                <a:solidFill>
                  <a:srgbClr val="C9D6E3"/>
                </a:solidFill>
                <a:latin typeface="Noto Sans KR"/>
                <a:ea typeface="Noto Sans KR"/>
              </a:rPr>
              <a:t> (</a:t>
            </a:r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저장소</a:t>
            </a:r>
            <a:r>
              <a:rPr lang="en-US" sz="1356" b="1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기존</a:t>
            </a:r>
            <a:r>
              <a:rPr lang="en-US" sz="1356" b="1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실행</a:t>
            </a:r>
            <a:r>
              <a:rPr lang="en-US" sz="1356" b="1">
                <a:solidFill>
                  <a:srgbClr val="C9D6E3"/>
                </a:solidFill>
                <a:latin typeface="Segoe UI"/>
                <a:ea typeface="Segoe UI"/>
              </a:rPr>
              <a:t> </a:t>
            </a:r>
            <a:r>
              <a:rPr lang="ko-KR" sz="1356" b="1">
                <a:solidFill>
                  <a:srgbClr val="C9D6E3"/>
                </a:solidFill>
                <a:latin typeface="Noto Sans KR"/>
                <a:ea typeface="Noto Sans KR"/>
              </a:rPr>
              <a:t>기록</a:t>
            </a:r>
            <a:r>
              <a:rPr lang="en-US" sz="1356" b="1">
                <a:solidFill>
                  <a:srgbClr val="C9D6E3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005" y="5072606"/>
            <a:ext cx="10624435" cy="26592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열수지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= |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입력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−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출력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−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축적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| ÷ (IT + CRAH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팬</a:t>
            </a:r>
            <a:r>
              <a:rPr lang="en-US" sz="139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입력에너지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),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무차원</a:t>
            </a:r>
            <a:r>
              <a:rPr lang="en-US" sz="1395" b="0">
                <a:solidFill>
                  <a:srgbClr val="A9B9CC"/>
                </a:solidFill>
                <a:latin typeface="Segoe UI"/>
                <a:ea typeface="Segoe UI"/>
              </a:rPr>
              <a:t> ·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최종</a:t>
            </a:r>
            <a:r>
              <a:rPr lang="en-US" sz="139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패키지</a:t>
            </a:r>
            <a:r>
              <a:rPr lang="en-US" sz="139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기본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 30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초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, 33,210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셀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, 1,500</a:t>
            </a:r>
            <a:r>
              <a:rPr lang="ko-KR" sz="1395" b="0">
                <a:solidFill>
                  <a:srgbClr val="A9B9CC"/>
                </a:solidFill>
                <a:latin typeface="Noto Sans KR"/>
                <a:ea typeface="Noto Sans KR"/>
              </a:rPr>
              <a:t>스텝</a:t>
            </a:r>
            <a:r>
              <a:rPr lang="en-US" sz="1395" b="0">
                <a:solidFill>
                  <a:srgbClr val="A9B9CC"/>
                </a:solidFill>
                <a:latin typeface="Noto Sans KR"/>
                <a:ea typeface="Noto Sans KR"/>
              </a:rPr>
              <a:t>, h 0.25 m, dt 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227" y="5341875"/>
            <a:ext cx="2087055" cy="2623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77" b="0">
                <a:solidFill>
                  <a:srgbClr val="A9B9CC"/>
                </a:solidFill>
                <a:latin typeface="Noto Sans KR"/>
                <a:ea typeface="Noto Sans KR"/>
              </a:rPr>
              <a:t>s </a:t>
            </a:r>
            <a:r>
              <a:rPr lang="en-US" sz="1377" b="0">
                <a:solidFill>
                  <a:srgbClr val="A9B9CC"/>
                </a:solidFill>
                <a:latin typeface="Segoe UI"/>
                <a:ea typeface="Segoe UI"/>
              </a:rPr>
              <a:t>· </a:t>
            </a:r>
            <a:r>
              <a:rPr lang="ko-KR" sz="1377" b="0">
                <a:solidFill>
                  <a:srgbClr val="A9B9CC"/>
                </a:solidFill>
                <a:latin typeface="Noto Sans KR"/>
                <a:ea typeface="Noto Sans KR"/>
              </a:rPr>
              <a:t>기존</a:t>
            </a:r>
            <a:r>
              <a:rPr lang="en-US" sz="137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77" b="0">
                <a:solidFill>
                  <a:srgbClr val="A9B9CC"/>
                </a:solidFill>
                <a:latin typeface="Noto Sans KR"/>
                <a:ea typeface="Noto Sans KR"/>
              </a:rPr>
              <a:t>기준</a:t>
            </a:r>
            <a:r>
              <a:rPr lang="en-US" sz="1377" b="0">
                <a:solidFill>
                  <a:srgbClr val="A9B9CC"/>
                </a:solidFill>
                <a:latin typeface="Noto Sans KR"/>
                <a:ea typeface="Noto Sans KR"/>
              </a:rPr>
              <a:t> 10⁻⁹ </a:t>
            </a:r>
            <a:r>
              <a:rPr lang="ko-KR" sz="1377" b="0">
                <a:solidFill>
                  <a:srgbClr val="A9B9CC"/>
                </a:solidFill>
                <a:latin typeface="Noto Sans KR"/>
                <a:ea typeface="Noto Sans KR"/>
              </a:rPr>
              <a:t>미만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703" y="5657285"/>
            <a:ext cx="8526755" cy="26044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222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종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=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전체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1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회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실행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217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성공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5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실패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→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테스트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월드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구성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수정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후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실패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 5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종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재통과</a:t>
            </a:r>
            <a:r>
              <a:rPr lang="en-US" sz="1367" b="0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이후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변경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영향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검사</a:t>
            </a:r>
            <a:r>
              <a:rPr lang="en-US" sz="136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67" b="0">
                <a:solidFill>
                  <a:srgbClr val="A9B9CC"/>
                </a:solidFill>
                <a:latin typeface="Noto Sans KR"/>
                <a:ea typeface="Noto Sans KR"/>
              </a:rPr>
              <a:t>수행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1053" y="837406"/>
            <a:ext cx="1009162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현재</a:t>
            </a:r>
            <a:r>
              <a:rPr lang="en-US" sz="1450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50" b="1">
                <a:solidFill>
                  <a:srgbClr val="3FC1D9"/>
                </a:solidFill>
                <a:latin typeface="Noto Sans KR"/>
                <a:ea typeface="Noto Sans KR"/>
              </a:rPr>
              <a:t>진행도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006" y="1140180"/>
            <a:ext cx="8576286" cy="59708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핵심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lang="en-US" sz="3134" b="1">
                <a:solidFill>
                  <a:srgbClr val="EEF2F6"/>
                </a:solidFill>
                <a:latin typeface="Noto Sans KR"/>
                <a:ea typeface="Noto Sans KR"/>
              </a:rPr>
              <a:t> MVP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에서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편집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시각화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비교까지</a:t>
            </a:r>
            <a:r>
              <a:rPr lang="en-US" sz="3134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134" b="1">
                <a:solidFill>
                  <a:srgbClr val="EEF2F6"/>
                </a:solidFill>
                <a:latin typeface="Noto Sans KR"/>
                <a:ea typeface="Noto Sans KR"/>
              </a:rPr>
              <a:t>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105" y="1953089"/>
            <a:ext cx="967299" cy="4225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218" b="1">
                <a:solidFill>
                  <a:srgbClr val="EEF2F6"/>
                </a:solidFill>
                <a:latin typeface="Noto Sans KR"/>
                <a:ea typeface="Noto Sans KR"/>
              </a:rPr>
              <a:t>S0~S4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7282" y="1957271"/>
            <a:ext cx="4138520" cy="41860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실행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랙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열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수력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공기</a:t>
            </a:r>
            <a:r>
              <a:rPr lang="en-US" sz="2197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97" b="0">
                <a:solidFill>
                  <a:srgbClr val="EEF2F6"/>
                </a:solidFill>
                <a:latin typeface="Noto Sans KR"/>
                <a:ea typeface="Noto Sans KR"/>
              </a:rPr>
              <a:t>통합</a:t>
            </a:r>
            <a:r>
              <a:rPr lang="en-US" sz="2197" b="0">
                <a:solidFill>
                  <a:srgbClr val="EEF2F6"/>
                </a:solidFill>
                <a:latin typeface="Noto Sans KR"/>
                <a:ea typeface="Noto Sans KR"/>
              </a:rPr>
              <a:t>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26503" y="1989556"/>
            <a:ext cx="500527" cy="3399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84" b="1">
                <a:solidFill>
                  <a:srgbClr val="0E1A2B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406" y="2489298"/>
            <a:ext cx="419002" cy="42176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214" b="1">
                <a:solidFill>
                  <a:srgbClr val="EEF2F6"/>
                </a:solidFill>
                <a:latin typeface="Noto Sans KR"/>
                <a:ea typeface="Noto Sans KR"/>
              </a:rPr>
              <a:t>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3631" y="2492178"/>
            <a:ext cx="4371201" cy="4125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5" b="0">
                <a:solidFill>
                  <a:srgbClr val="EEF2F6"/>
                </a:solidFill>
                <a:latin typeface="Noto Sans KR"/>
                <a:ea typeface="Noto Sans KR"/>
              </a:rPr>
              <a:t>옥트리</a:t>
            </a:r>
            <a:r>
              <a:rPr lang="en-US" sz="2165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5" b="0">
                <a:solidFill>
                  <a:srgbClr val="EEF2F6"/>
                </a:solidFill>
                <a:latin typeface="Noto Sans KR"/>
                <a:ea typeface="Noto Sans KR"/>
              </a:rPr>
              <a:t>자동</a:t>
            </a:r>
            <a:r>
              <a:rPr lang="en-US" sz="216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5" b="0">
                <a:solidFill>
                  <a:srgbClr val="EEF2F6"/>
                </a:solidFill>
                <a:latin typeface="Noto Sans KR"/>
                <a:ea typeface="Noto Sans KR"/>
              </a:rPr>
              <a:t>적응</a:t>
            </a:r>
            <a:r>
              <a:rPr lang="en-US" sz="2165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en-US" sz="2165" b="0">
                <a:solidFill>
                  <a:srgbClr val="EEF2F6"/>
                </a:solidFill>
                <a:latin typeface="Noto Sans KR"/>
                <a:ea typeface="Noto Sans KR"/>
              </a:rPr>
              <a:t>LOD </a:t>
            </a:r>
            <a:r>
              <a:rPr lang="en-US" sz="2165" b="0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lang="ko-KR" sz="2165" b="0">
                <a:solidFill>
                  <a:srgbClr val="A9B9CC"/>
                </a:solidFill>
                <a:latin typeface="Noto Sans KR"/>
                <a:ea typeface="Noto Sans KR"/>
              </a:rPr>
              <a:t>비교</a:t>
            </a:r>
            <a:r>
              <a:rPr lang="en-US" sz="2165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2165" b="0">
                <a:solidFill>
                  <a:srgbClr val="A9B9CC"/>
                </a:solidFill>
                <a:latin typeface="Noto Sans KR"/>
                <a:ea typeface="Noto Sans KR"/>
              </a:rPr>
              <a:t>한계</a:t>
            </a:r>
            <a:r>
              <a:rPr lang="en-US" sz="2165" b="0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26503" y="2522956"/>
            <a:ext cx="500527" cy="3399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84" b="1">
                <a:solidFill>
                  <a:srgbClr val="0E1A2B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105" y="3018679"/>
            <a:ext cx="415357" cy="4175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92" b="1">
                <a:solidFill>
                  <a:srgbClr val="EEF2F6"/>
                </a:solidFill>
                <a:latin typeface="Noto Sans KR"/>
                <a:ea typeface="Noto Sans KR"/>
              </a:rPr>
              <a:t>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5060" y="3016685"/>
            <a:ext cx="4116737" cy="4108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배치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저장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가상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센서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평가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리포트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6503" y="3050006"/>
            <a:ext cx="500527" cy="3399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84" b="1">
                <a:solidFill>
                  <a:srgbClr val="0E1A2B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105" y="3548667"/>
            <a:ext cx="409035" cy="410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54" b="1">
                <a:solidFill>
                  <a:srgbClr val="EEF2F6"/>
                </a:solidFill>
                <a:latin typeface="Noto Sans KR"/>
                <a:ea typeface="Noto Sans KR"/>
              </a:rPr>
              <a:t>S7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330" y="3551750"/>
            <a:ext cx="4814481" cy="4114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핵심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구현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확인</a:t>
            </a:r>
            <a:r>
              <a:rPr lang="en-US" sz="2159" b="0">
                <a:solidFill>
                  <a:srgbClr val="EEF2F6"/>
                </a:solidFill>
                <a:latin typeface="Noto Sans KR"/>
                <a:ea typeface="Noto Sans KR"/>
              </a:rPr>
              <a:t>,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웹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대시보드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성능</a:t>
            </a:r>
            <a:r>
              <a:rPr lang="en-US" sz="2159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9" b="0">
                <a:solidFill>
                  <a:srgbClr val="EEF2F6"/>
                </a:solidFill>
                <a:latin typeface="Noto Sans KR"/>
                <a:ea typeface="Noto Sans KR"/>
              </a:rPr>
              <a:t>남음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4730" y="3587189"/>
            <a:ext cx="970504" cy="3275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19" b="1">
                <a:solidFill>
                  <a:srgbClr val="1C1A12"/>
                </a:solidFill>
                <a:latin typeface="Noto Sans KR"/>
                <a:ea typeface="Noto Sans KR"/>
              </a:rPr>
              <a:t>일부</a:t>
            </a:r>
            <a:r>
              <a:rPr lang="en-US" sz="1719" b="1">
                <a:solidFill>
                  <a:srgbClr val="1C1A12"/>
                </a:solidFill>
                <a:latin typeface="Segoe UI"/>
                <a:ea typeface="Segoe UI"/>
              </a:rPr>
              <a:t> </a:t>
            </a:r>
            <a:r>
              <a:rPr lang="ko-KR" sz="1719" b="1">
                <a:solidFill>
                  <a:srgbClr val="1C1A12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105" y="4080680"/>
            <a:ext cx="601359" cy="41194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62" b="1">
                <a:solidFill>
                  <a:srgbClr val="EEF2F6"/>
                </a:solidFill>
                <a:latin typeface="Noto Sans KR"/>
                <a:ea typeface="Noto Sans KR"/>
              </a:rPr>
              <a:t>S2b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3631" y="4079556"/>
            <a:ext cx="3532013" cy="4139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누수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재고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장애</a:t>
            </a:r>
            <a:r>
              <a:rPr lang="en-US" sz="2172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72" b="0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6808" y="4112306"/>
            <a:ext cx="715061" cy="33472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57" b="1">
                <a:solidFill>
                  <a:srgbClr val="EEF2F6"/>
                </a:solidFill>
                <a:latin typeface="Noto Sans KR"/>
                <a:ea typeface="Noto Sans KR"/>
              </a:rPr>
              <a:t>미착수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453" y="4608963"/>
            <a:ext cx="588843" cy="40668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34" b="1">
                <a:solidFill>
                  <a:srgbClr val="EEF2F6"/>
                </a:solidFill>
                <a:latin typeface="Noto Sans KR"/>
                <a:ea typeface="Noto Sans KR"/>
              </a:rPr>
              <a:t>성능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9981" y="4603334"/>
            <a:ext cx="4921419" cy="42017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205" b="0">
                <a:solidFill>
                  <a:srgbClr val="EEF2F6"/>
                </a:solidFill>
                <a:latin typeface="Noto Sans KR"/>
                <a:ea typeface="Noto Sans KR"/>
              </a:rPr>
              <a:t>시뮬레이션</a:t>
            </a:r>
            <a:r>
              <a:rPr lang="en-US" sz="2205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205" b="0">
                <a:solidFill>
                  <a:srgbClr val="EEF2F6"/>
                </a:solidFill>
                <a:latin typeface="Noto Sans KR"/>
                <a:ea typeface="Noto Sans KR"/>
              </a:rPr>
              <a:t>약</a:t>
            </a:r>
            <a:r>
              <a:rPr lang="en-US" sz="2205" b="0">
                <a:solidFill>
                  <a:srgbClr val="EEF2F6"/>
                </a:solidFill>
                <a:latin typeface="Noto Sans KR"/>
                <a:ea typeface="Noto Sans KR"/>
              </a:rPr>
              <a:t> 52.9 FPS </a:t>
            </a:r>
            <a:r>
              <a:rPr lang="en-US" sz="2205" b="0">
                <a:solidFill>
                  <a:srgbClr val="EEF2F6"/>
                </a:solidFill>
                <a:latin typeface="Segoe UI"/>
                <a:ea typeface="Segoe UI"/>
              </a:rPr>
              <a:t>· </a:t>
            </a:r>
            <a:r>
              <a:rPr lang="ko-KR" sz="2205" b="0">
                <a:solidFill>
                  <a:srgbClr val="EEF2F6"/>
                </a:solidFill>
                <a:latin typeface="Noto Sans KR"/>
                <a:ea typeface="Noto Sans KR"/>
              </a:rPr>
              <a:t>목표</a:t>
            </a:r>
            <a:r>
              <a:rPr lang="en-US" sz="2205" b="0">
                <a:solidFill>
                  <a:srgbClr val="EEF2F6"/>
                </a:solidFill>
                <a:latin typeface="Noto Sans KR"/>
                <a:ea typeface="Noto Sans KR"/>
              </a:rPr>
              <a:t> 60 FPS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4253" y="4642553"/>
            <a:ext cx="973897" cy="3287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725" b="1">
                <a:solidFill>
                  <a:srgbClr val="2A0E08"/>
                </a:solidFill>
                <a:latin typeface="Noto Sans KR"/>
                <a:ea typeface="Noto Sans KR"/>
              </a:rPr>
              <a:t>목표</a:t>
            </a:r>
            <a:r>
              <a:rPr lang="en-US" sz="1725" b="1">
                <a:solidFill>
                  <a:srgbClr val="2A0E08"/>
                </a:solidFill>
                <a:latin typeface="Segoe UI"/>
                <a:ea typeface="Segoe UI"/>
              </a:rPr>
              <a:t> </a:t>
            </a:r>
            <a:r>
              <a:rPr lang="ko-KR" sz="1725" b="1">
                <a:solidFill>
                  <a:srgbClr val="2A0E08"/>
                </a:solidFill>
                <a:latin typeface="Noto Sans KR"/>
                <a:ea typeface="Noto Sans KR"/>
              </a:rPr>
              <a:t>미달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228" y="5953687"/>
            <a:ext cx="11287923" cy="27095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성능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: Ryzen 7 8845HS / RTX 4060 Laptop 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1280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×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720 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32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랙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33,210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셀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 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CPU 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병렬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난류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 ·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Editor -game. Frame 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중앙값</a:t>
            </a:r>
            <a:r>
              <a:rPr lang="en-US" sz="1422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422" b="0">
                <a:solidFill>
                  <a:srgbClr val="8FA2B8"/>
                </a:solidFill>
                <a:latin typeface="Noto Sans KR"/>
                <a:ea typeface="Noto Sans KR"/>
              </a:rPr>
              <a:t>배치</a:t>
            </a:r>
            <a:r>
              <a:rPr lang="en-US" sz="1422" b="0">
                <a:solidFill>
                  <a:srgbClr val="8FA2B8"/>
                </a:solidFill>
                <a:latin typeface="Noto Sans KR"/>
                <a:ea typeface="Noto Sans KR"/>
              </a:rPr>
              <a:t> 13.73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482" y="6221418"/>
            <a:ext cx="9670424" cy="25971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ms(≈72.8 FPS),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시뮬레이션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18.90 ms(≈52.9 FPS)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의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역수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—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평균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최저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·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최종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패키지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FPS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가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아니며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다른</a:t>
            </a:r>
            <a:r>
              <a:rPr lang="en-US" sz="1363" b="0">
                <a:solidFill>
                  <a:srgbClr val="8FA2B8"/>
                </a:solidFill>
                <a:latin typeface="Noto Sans KR"/>
                <a:ea typeface="Noto Sans KR"/>
              </a:rPr>
              <a:t> PC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보장값이</a:t>
            </a:r>
            <a:r>
              <a:rPr lang="en-US" sz="1363" b="0">
                <a:solidFill>
                  <a:srgbClr val="8FA2B8"/>
                </a:solidFill>
                <a:latin typeface="Segoe UI"/>
                <a:ea typeface="Segoe UI"/>
              </a:rPr>
              <a:t> </a:t>
            </a:r>
            <a:r>
              <a:rPr lang="ko-KR" sz="1363" b="0">
                <a:solidFill>
                  <a:srgbClr val="8FA2B8"/>
                </a:solidFill>
                <a:latin typeface="Noto Sans KR"/>
                <a:ea typeface="Noto Sans KR"/>
              </a:rPr>
              <a:t>아님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2006" y="838414"/>
            <a:ext cx="831502" cy="2780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459" b="1">
                <a:solidFill>
                  <a:srgbClr val="3FC1D9"/>
                </a:solidFill>
                <a:latin typeface="Noto Sans KR"/>
                <a:ea typeface="Noto Sans KR"/>
              </a:rPr>
              <a:t>다음</a:t>
            </a:r>
            <a:r>
              <a:rPr lang="en-US" sz="1459" b="1">
                <a:solidFill>
                  <a:srgbClr val="3FC1D9"/>
                </a:solidFill>
                <a:latin typeface="Segoe UI"/>
                <a:ea typeface="Segoe UI"/>
              </a:rPr>
              <a:t> </a:t>
            </a:r>
            <a:r>
              <a:rPr lang="ko-KR" sz="1459" b="1">
                <a:solidFill>
                  <a:srgbClr val="3FC1D9"/>
                </a:solidFill>
                <a:latin typeface="Noto Sans KR"/>
                <a:ea typeface="Noto Sans KR"/>
              </a:rPr>
              <a:t>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5657" y="1141039"/>
            <a:ext cx="6508160" cy="58930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3093" b="1">
                <a:solidFill>
                  <a:srgbClr val="EEF2F6"/>
                </a:solidFill>
                <a:latin typeface="Noto Sans KR"/>
                <a:ea typeface="Noto Sans KR"/>
              </a:rPr>
              <a:t>S7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을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마무리한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뒤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마지막</a:t>
            </a:r>
            <a:r>
              <a:rPr lang="en-US" sz="3093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단계</a:t>
            </a:r>
            <a:r>
              <a:rPr lang="en-US" sz="3093" b="1">
                <a:solidFill>
                  <a:srgbClr val="EEF2F6"/>
                </a:solidFill>
                <a:latin typeface="Noto Sans KR"/>
                <a:ea typeface="Noto Sans KR"/>
              </a:rPr>
              <a:t> S2b</a:t>
            </a:r>
            <a:r>
              <a:rPr lang="ko-KR" sz="3093" b="1">
                <a:solidFill>
                  <a:srgbClr val="EEF2F6"/>
                </a:solidFill>
                <a:latin typeface="Noto Sans KR"/>
                <a:ea typeface="Noto Sans KR"/>
              </a:rPr>
              <a:t>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928" y="2081532"/>
            <a:ext cx="1992996" cy="41104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57" b="1">
                <a:solidFill>
                  <a:srgbClr val="EEF2F6"/>
                </a:solidFill>
                <a:latin typeface="Noto Sans KR"/>
                <a:ea typeface="Noto Sans KR"/>
              </a:rPr>
              <a:t>① S7 </a:t>
            </a:r>
            <a:r>
              <a:rPr lang="ko-KR" sz="2157" b="1">
                <a:solidFill>
                  <a:srgbClr val="EEF2F6"/>
                </a:solidFill>
                <a:latin typeface="Noto Sans KR"/>
                <a:ea typeface="Noto Sans KR"/>
              </a:rPr>
              <a:t>남은</a:t>
            </a:r>
            <a:r>
              <a:rPr lang="en-US" sz="2157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7" b="1">
                <a:solidFill>
                  <a:srgbClr val="EEF2F6"/>
                </a:solidFill>
                <a:latin typeface="Noto Sans KR"/>
                <a:ea typeface="Noto Sans KR"/>
              </a:rPr>
              <a:t>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4878" y="2148720"/>
            <a:ext cx="772963" cy="25718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50" b="1">
                <a:solidFill>
                  <a:srgbClr val="1C1A12"/>
                </a:solidFill>
                <a:latin typeface="Noto Sans KR"/>
                <a:ea typeface="Noto Sans KR"/>
              </a:rPr>
              <a:t>일부</a:t>
            </a:r>
            <a:r>
              <a:rPr lang="en-US" sz="1350" b="1">
                <a:solidFill>
                  <a:srgbClr val="1C1A12"/>
                </a:solidFill>
                <a:latin typeface="Segoe UI"/>
                <a:ea typeface="Segoe UI"/>
              </a:rPr>
              <a:t> </a:t>
            </a:r>
            <a:r>
              <a:rPr lang="ko-KR" sz="1350" b="1">
                <a:solidFill>
                  <a:srgbClr val="1C1A12"/>
                </a:solidFill>
                <a:latin typeface="Noto Sans KR"/>
                <a:ea typeface="Noto Sans KR"/>
              </a:rPr>
              <a:t>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2230" y="2585513"/>
            <a:ext cx="1452584" cy="40403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웹</a:t>
            </a:r>
            <a:r>
              <a:rPr lang="en-US" sz="212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0" b="0">
                <a:solidFill>
                  <a:srgbClr val="EEF2F6"/>
                </a:solidFill>
                <a:latin typeface="Noto Sans KR"/>
                <a:ea typeface="Noto Sans KR"/>
              </a:rPr>
              <a:t>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881" y="3003780"/>
            <a:ext cx="1924709" cy="4131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성능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개선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2706" y="3428304"/>
            <a:ext cx="2637226" cy="4016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최신</a:t>
            </a:r>
            <a:r>
              <a:rPr lang="en-US" sz="210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패키지</a:t>
            </a:r>
            <a:r>
              <a:rPr lang="en-US" sz="210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조작</a:t>
            </a:r>
            <a:r>
              <a:rPr lang="en-US" sz="210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8" b="0">
                <a:solidFill>
                  <a:srgbClr val="EEF2F6"/>
                </a:solidFill>
                <a:latin typeface="Noto Sans KR"/>
                <a:ea typeface="Noto Sans KR"/>
              </a:rPr>
              <a:t>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8928" y="2081649"/>
            <a:ext cx="2446813" cy="4095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2150" b="1">
                <a:solidFill>
                  <a:srgbClr val="EEF2F6"/>
                </a:solidFill>
                <a:latin typeface="Noto Sans KR"/>
                <a:ea typeface="Noto Sans KR"/>
              </a:rPr>
              <a:t>② S2b </a:t>
            </a:r>
            <a:r>
              <a:rPr lang="ko-KR" sz="2150" b="1">
                <a:solidFill>
                  <a:srgbClr val="EEF2F6"/>
                </a:solidFill>
                <a:latin typeface="Noto Sans KR"/>
                <a:ea typeface="Noto Sans KR"/>
              </a:rPr>
              <a:t>마지막</a:t>
            </a:r>
            <a:r>
              <a:rPr lang="en-US" sz="2150" b="1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0" b="1">
                <a:solidFill>
                  <a:srgbClr val="EEF2F6"/>
                </a:solidFill>
                <a:latin typeface="Noto Sans KR"/>
                <a:ea typeface="Noto Sans KR"/>
              </a:rPr>
              <a:t>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33856" y="2146838"/>
            <a:ext cx="567240" cy="26023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66" b="1">
                <a:solidFill>
                  <a:srgbClr val="EEF2F6"/>
                </a:solidFill>
                <a:latin typeface="Noto Sans KR"/>
                <a:ea typeface="Noto Sans KR"/>
              </a:rPr>
              <a:t>미착수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7531" y="2584680"/>
            <a:ext cx="1924716" cy="4131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누수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밸브</a:t>
            </a:r>
            <a:r>
              <a:rPr lang="en-US" sz="2168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68" b="0">
                <a:solidFill>
                  <a:srgbClr val="EEF2F6"/>
                </a:solidFill>
                <a:latin typeface="Noto Sans KR"/>
                <a:ea typeface="Noto Sans KR"/>
              </a:rPr>
              <a:t>격리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9436" y="3004517"/>
            <a:ext cx="1456219" cy="40507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냉각수</a:t>
            </a:r>
            <a:r>
              <a:rPr lang="en-US" sz="212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26" b="0">
                <a:solidFill>
                  <a:srgbClr val="EEF2F6"/>
                </a:solidFill>
                <a:latin typeface="Noto Sans KR"/>
                <a:ea typeface="Noto Sans KR"/>
              </a:rPr>
              <a:t>재고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357" y="3424809"/>
            <a:ext cx="2185665" cy="41074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질량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·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에너지</a:t>
            </a:r>
            <a:r>
              <a:rPr lang="en-US" sz="2156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56" b="0">
                <a:solidFill>
                  <a:srgbClr val="EEF2F6"/>
                </a:solidFill>
                <a:latin typeface="Noto Sans KR"/>
                <a:ea typeface="Noto Sans KR"/>
              </a:rPr>
              <a:t>유출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7532" y="3843178"/>
            <a:ext cx="2362288" cy="4000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결과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기반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장애</a:t>
            </a:r>
            <a:r>
              <a:rPr lang="en-US" sz="2100" b="0">
                <a:solidFill>
                  <a:srgbClr val="EEF2F6"/>
                </a:solidFill>
                <a:latin typeface="Segoe UI"/>
                <a:ea typeface="Segoe UI"/>
              </a:rPr>
              <a:t> </a:t>
            </a:r>
            <a:r>
              <a:rPr lang="ko-KR" sz="2100" b="0">
                <a:solidFill>
                  <a:srgbClr val="EEF2F6"/>
                </a:solidFill>
                <a:latin typeface="Noto Sans KR"/>
                <a:ea typeface="Noto Sans KR"/>
              </a:rPr>
              <a:t>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482" y="4717809"/>
            <a:ext cx="6158148" cy="25675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별도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후속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후보</a:t>
            </a:r>
            <a:r>
              <a:rPr lang="en-US" sz="1347" b="0">
                <a:solidFill>
                  <a:srgbClr val="A9B9CC"/>
                </a:solidFill>
                <a:latin typeface="Noto Sans KR"/>
                <a:ea typeface="Noto Sans KR"/>
              </a:rPr>
              <a:t>: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실측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보정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냉각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설비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모델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정교화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·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완료일은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팀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일정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확정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후</a:t>
            </a:r>
            <a:r>
              <a:rPr lang="en-US" sz="1347" b="0">
                <a:solidFill>
                  <a:srgbClr val="A9B9CC"/>
                </a:solidFill>
                <a:latin typeface="Segoe UI"/>
                <a:ea typeface="Segoe UI"/>
              </a:rPr>
              <a:t> </a:t>
            </a:r>
            <a:r>
              <a:rPr lang="ko-KR" sz="1347" b="0">
                <a:solidFill>
                  <a:srgbClr val="A9B9CC"/>
                </a:solidFill>
                <a:latin typeface="Noto Sans KR"/>
                <a:ea typeface="Noto Sans KR"/>
              </a:rPr>
              <a:t>공유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605" y="5594573"/>
            <a:ext cx="1765871" cy="51854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-KR" sz="2721" b="1">
                <a:solidFill>
                  <a:srgbClr val="3FC1D9"/>
                </a:solidFill>
                <a:latin typeface="Noto Sans KR"/>
                <a:ea typeface="Noto Sans KR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1052</Words>
  <Application>Microsoft Office PowerPoint</Application>
  <PresentationFormat>와이드스크린</PresentationFormat>
  <Paragraphs>188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김경준(2022184005)</cp:lastModifiedBy>
  <cp:revision>2</cp:revision>
  <dcterms:created xsi:type="dcterms:W3CDTF">2013-01-27T09:14:16Z</dcterms:created>
  <dcterms:modified xsi:type="dcterms:W3CDTF">2026-10-09T15:27:33Z</dcterms:modified>
  <cp:category/>
</cp:coreProperties>
</file>