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대비 세부: 서버 열 = 칩 단위 613 노드의 열용량 기반 과도 모델(C·dT/dt = 발열 − 물로 간 열 − 공기로 간 열). 배관 = 노드 압력 Newton법(펌프 유량 보조 미지수, 200노드 초과는 희소 LU). 공기 = 0.25 m 균일 MAC 격자 투영법, 압력은 멀티그리드 PCG, Chen-Xu 0-방정식 난류(νt = 0.03874·|V|·l). 열교환 = ε-NTU(공조기 코일 ε = 1 − e^(−NTU), CDU는 대향류). 결합은 FCouplingBridge가 열 전달량을 한 번 계산해 양쪽에 같은 값으로 적용, 전역 열수지 잔차 약 1e-14. 실측 보정 전 모델.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라벨"/>
          <p:cNvSpPr txBox="1"/>
          <p:nvPr/>
        </p:nvSpPr>
        <p:spPr>
          <a:xfrm>
            <a:off x="812800" y="8128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lang="ko-KR">
                <a:solidFill>
                  <a:srgbClr val="3FC1D9"/>
                </a:solidFill>
                <a:latin typeface="Noto Sans KR"/>
                <a:ea typeface="Noto Sans KR"/>
              </a:rPr>
              <a:t>계산의</a:t>
            </a:r>
            <a:r>
              <a:rPr sz="1450" b="1" lang="en-US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sz="1450" b="1" lang="ko-KR">
                <a:solidFill>
                  <a:srgbClr val="3FC1D9"/>
                </a:solidFill>
                <a:latin typeface="Noto Sans KR"/>
                <a:ea typeface="Noto Sans KR"/>
              </a:rPr>
              <a:t>원리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812800" y="1092200"/>
            <a:ext cx="10668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lang="ko-KR">
                <a:solidFill>
                  <a:srgbClr val="EEF2F6"/>
                </a:solidFill>
                <a:latin typeface="Noto Sans KR"/>
                <a:ea typeface="Noto Sans KR"/>
              </a:rPr>
              <a:t>어떤</a:t>
            </a:r>
            <a:r>
              <a:rPr sz="300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3000" b="1" lang="ko-KR">
                <a:solidFill>
                  <a:srgbClr val="EEF2F6"/>
                </a:solidFill>
                <a:latin typeface="Noto Sans KR"/>
                <a:ea typeface="Noto Sans KR"/>
              </a:rPr>
              <a:t>물리</a:t>
            </a:r>
            <a:r>
              <a:rPr sz="300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3000" b="1" lang="ko-KR">
                <a:solidFill>
                  <a:srgbClr val="EEF2F6"/>
                </a:solidFill>
                <a:latin typeface="Noto Sans KR"/>
                <a:ea typeface="Noto Sans KR"/>
              </a:rPr>
              <a:t>모델로</a:t>
            </a:r>
            <a:r>
              <a:rPr sz="300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3000" b="1" lang="ko-KR">
                <a:solidFill>
                  <a:srgbClr val="EEF2F6"/>
                </a:solidFill>
                <a:latin typeface="Noto Sans KR"/>
                <a:ea typeface="Noto Sans KR"/>
              </a:rPr>
              <a:t>만들었나</a:t>
            </a:r>
          </a:p>
        </p:txBody>
      </p:sp>
      <p:sp>
        <p:nvSpPr>
          <p:cNvPr id="4" name="서버의 열"/>
          <p:cNvSpPr/>
          <p:nvPr/>
        </p:nvSpPr>
        <p:spPr>
          <a:xfrm>
            <a:off x="812800" y="18796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16263D"/>
          </a:solidFill>
          <a:ln w="12700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0" y="1879600"/>
            <a:ext cx="1905000" cy="838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879600"/>
            <a:ext cx="1905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ko-KR">
                <a:solidFill>
                  <a:srgbClr val="F2A65E"/>
                </a:solidFill>
                <a:latin typeface="Noto Sans KR"/>
                <a:ea typeface="Noto Sans KR"/>
              </a:rPr>
              <a:t>서버의</a:t>
            </a:r>
            <a:r>
              <a:rPr sz="165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F2A65E"/>
                </a:solidFill>
                <a:latin typeface="Noto Sans KR"/>
                <a:ea typeface="Noto Sans KR"/>
              </a:rPr>
              <a:t>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7200" y="20320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다절점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열용량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7200" y="236220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랙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1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대를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칩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단위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613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개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부분으로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나눠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시간에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따라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데워지고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식는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과정을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</a:p>
        </p:txBody>
      </p:sp>
      <p:sp>
        <p:nvSpPr>
          <p:cNvPr id="9" name="배관의 물"/>
          <p:cNvSpPr/>
          <p:nvPr/>
        </p:nvSpPr>
        <p:spPr>
          <a:xfrm>
            <a:off x="812800" y="28448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16263D"/>
          </a:solidFill>
          <a:ln w="12700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2800" y="2844800"/>
            <a:ext cx="1905000" cy="838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2800" y="2844800"/>
            <a:ext cx="1905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ko-KR">
                <a:solidFill>
                  <a:srgbClr val="3FC1D9"/>
                </a:solidFill>
                <a:latin typeface="Noto Sans KR"/>
                <a:ea typeface="Noto Sans KR"/>
              </a:rPr>
              <a:t>배관의</a:t>
            </a:r>
            <a:r>
              <a:rPr sz="1650" b="1" lang="en-US">
                <a:solidFill>
                  <a:srgbClr val="3FC1D9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3FC1D9"/>
                </a:solidFill>
                <a:latin typeface="Noto Sans KR"/>
                <a:ea typeface="Noto Sans KR"/>
              </a:rPr>
              <a:t>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200" y="29972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배관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네트워크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수력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7200" y="332740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펌프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성능과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배관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저항이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맞는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지점을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Newton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법으로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찾아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랙마다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흐르는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물의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양을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</a:p>
        </p:txBody>
      </p:sp>
      <p:sp>
        <p:nvSpPr>
          <p:cNvPr id="14" name="방 안의 공기"/>
          <p:cNvSpPr/>
          <p:nvPr/>
        </p:nvSpPr>
        <p:spPr>
          <a:xfrm>
            <a:off x="812800" y="38100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16263D"/>
          </a:solidFill>
          <a:ln w="12700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2800" y="3810000"/>
            <a:ext cx="1905000" cy="838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3810000"/>
            <a:ext cx="1905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ko-KR">
                <a:solidFill>
                  <a:srgbClr val="6FA8FF"/>
                </a:solidFill>
                <a:latin typeface="Noto Sans KR"/>
                <a:ea typeface="Noto Sans KR"/>
              </a:rPr>
              <a:t>방</a:t>
            </a:r>
            <a:r>
              <a:rPr sz="1650" b="1" lang="en-US">
                <a:solidFill>
                  <a:srgbClr val="6FA8FF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6FA8FF"/>
                </a:solidFill>
                <a:latin typeface="Noto Sans KR"/>
                <a:ea typeface="Noto Sans KR"/>
              </a:rPr>
              <a:t>안의</a:t>
            </a:r>
            <a:r>
              <a:rPr sz="1650" b="1" lang="en-US">
                <a:solidFill>
                  <a:srgbClr val="6FA8FF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6FA8FF"/>
                </a:solidFill>
                <a:latin typeface="Noto Sans KR"/>
                <a:ea typeface="Noto Sans KR"/>
              </a:rPr>
              <a:t>공기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7200" y="39624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격자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기반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유체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계산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(CFD) +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난류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7200" y="429260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방을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25 cm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칸으로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나눠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온도</a:t>
            </a:r>
            <a:r>
              <a:rPr sz="1200" b="0" lang="en-US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바람을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(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부력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서버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팬</a:t>
            </a:r>
            <a:r>
              <a:rPr sz="1200" b="0" lang="en-US">
                <a:solidFill>
                  <a:srgbClr val="A9B9CC"/>
                </a:solidFill>
                <a:latin typeface="Segoe UI"/>
                <a:ea typeface="Segoe UI"/>
              </a:rPr>
              <a:t>·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공조기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바람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, Chen-Xu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난류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</a:p>
        </p:txBody>
      </p:sp>
      <p:sp>
        <p:nvSpPr>
          <p:cNvPr id="19" name="냉각 장치"/>
          <p:cNvSpPr/>
          <p:nvPr/>
        </p:nvSpPr>
        <p:spPr>
          <a:xfrm>
            <a:off x="812800" y="4775200"/>
            <a:ext cx="10566400" cy="838200"/>
          </a:xfrm>
          <a:prstGeom prst="roundRect">
            <a:avLst>
              <a:gd name="adj" fmla="val 12000"/>
            </a:avLst>
          </a:prstGeom>
          <a:solidFill>
            <a:srgbClr val="16263D"/>
          </a:solidFill>
          <a:ln w="12700">
            <a:solidFill>
              <a:srgbClr val="2A3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2800" y="4775200"/>
            <a:ext cx="1905000" cy="838200"/>
          </a:xfrm>
          <a:prstGeom prst="roundRect">
            <a:avLst>
              <a:gd name="adj" fmla="val 12000"/>
            </a:avLst>
          </a:prstGeom>
          <a:solidFill>
            <a:srgbClr val="1B2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800" y="4775200"/>
            <a:ext cx="1905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1" lang="ko-KR">
                <a:solidFill>
                  <a:srgbClr val="62D2A2"/>
                </a:solidFill>
                <a:latin typeface="Noto Sans KR"/>
                <a:ea typeface="Noto Sans KR"/>
              </a:rPr>
              <a:t>냉각</a:t>
            </a:r>
            <a:r>
              <a:rPr sz="1650" b="1" lang="en-US">
                <a:solidFill>
                  <a:srgbClr val="62D2A2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62D2A2"/>
                </a:solidFill>
                <a:latin typeface="Noto Sans KR"/>
                <a:ea typeface="Noto Sans KR"/>
              </a:rPr>
              <a:t>장치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7200" y="4927600"/>
            <a:ext cx="8128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ε-NTU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열교환기</a:t>
            </a:r>
            <a:r>
              <a:rPr sz="1650" b="1" lang="en-US">
                <a:solidFill>
                  <a:srgbClr val="EEF2F6"/>
                </a:solidFill>
                <a:latin typeface="Noto Sans KR"/>
                <a:ea typeface="Noto Sans KR"/>
              </a:rPr>
              <a:t> </a:t>
            </a:r>
            <a:r>
              <a:rPr sz="1650" b="1" lang="ko-KR">
                <a:solidFill>
                  <a:srgbClr val="EEF2F6"/>
                </a:solidFill>
                <a:latin typeface="Noto Sans KR"/>
                <a:ea typeface="Noto Sans KR"/>
              </a:rPr>
              <a:t>모델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7200" y="5257800"/>
            <a:ext cx="812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CDU(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→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건물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냉각수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와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공조기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(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공기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→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냉수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)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가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넘기는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열을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계산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,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크기를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키우면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효율이</a:t>
            </a:r>
            <a:r>
              <a:rPr sz="1200" b="0" lang="en-US">
                <a:solidFill>
                  <a:srgbClr val="A9B9CC"/>
                </a:solidFill>
                <a:latin typeface="Noto Sans KR"/>
                <a:ea typeface="Noto Sans KR"/>
              </a:rPr>
              <a:t> </a:t>
            </a:r>
            <a:r>
              <a:rPr sz="1200" b="0" lang="ko-KR">
                <a:solidFill>
                  <a:srgbClr val="A9B9CC"/>
                </a:solidFill>
                <a:latin typeface="Noto Sans KR"/>
                <a:ea typeface="Noto Sans KR"/>
              </a:rPr>
              <a:t>포화</a:t>
            </a:r>
          </a:p>
        </p:txBody>
      </p:sp>
      <p:sp>
        <p:nvSpPr>
          <p:cNvPr id="24" name="결합"/>
          <p:cNvSpPr/>
          <p:nvPr/>
        </p:nvSpPr>
        <p:spPr>
          <a:xfrm>
            <a:off x="812800" y="5816600"/>
            <a:ext cx="10566400" cy="584200"/>
          </a:xfrm>
          <a:prstGeom prst="roundRect">
            <a:avLst>
              <a:gd name="adj" fmla="val 20000"/>
            </a:avLst>
          </a:prstGeom>
          <a:solidFill>
            <a:srgbClr val="13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800" y="5816600"/>
            <a:ext cx="10160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네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모델은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0.02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초마다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같은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시계로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함께</a:t>
            </a:r>
            <a:r>
              <a:rPr sz="1400" b="1" lang="en-US">
                <a:solidFill>
                  <a:srgbClr val="F2A65E"/>
                </a:solidFill>
                <a:latin typeface="Noto Sans KR"/>
                <a:ea typeface="Noto Sans KR"/>
              </a:rPr>
              <a:t> </a:t>
            </a:r>
            <a:r>
              <a:rPr sz="1400" b="1" lang="ko-KR">
                <a:solidFill>
                  <a:srgbClr val="F2A65E"/>
                </a:solidFill>
                <a:latin typeface="Noto Sans KR"/>
                <a:ea typeface="Noto Sans KR"/>
              </a:rPr>
              <a:t>계산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되고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,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들어온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열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=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나간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열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+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쌓인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열이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맞는지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계속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 </a:t>
            </a:r>
            <a:r>
              <a:rPr sz="1400" b="0" lang="ko-KR">
                <a:solidFill>
                  <a:srgbClr val="C9D6E3"/>
                </a:solidFill>
                <a:latin typeface="Noto Sans KR"/>
                <a:ea typeface="Noto Sans KR"/>
              </a:rPr>
              <a:t>확인합니다</a:t>
            </a:r>
            <a:r>
              <a:rPr sz="1400" b="0" lang="en-US">
                <a:solidFill>
                  <a:srgbClr val="C9D6E3"/>
                </a:solidFill>
                <a:latin typeface="Noto Sans KR"/>
                <a:ea typeface="Noto Sans K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